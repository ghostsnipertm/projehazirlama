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  <p:sldId id="267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İbrahim ÖZTEPE" initials="İÖ" lastIdx="1" clrIdx="0">
    <p:extLst>
      <p:ext uri="{19B8F6BF-5375-455C-9EA6-DF929625EA0E}">
        <p15:presenceInfo xmlns:p15="http://schemas.microsoft.com/office/powerpoint/2012/main" userId="26ff2455a2b6fe5d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4" autoAdjust="0"/>
    <p:restoredTop sz="94660"/>
  </p:normalViewPr>
  <p:slideViewPr>
    <p:cSldViewPr snapToGrid="0">
      <p:cViewPr varScale="1">
        <p:scale>
          <a:sx n="91" d="100"/>
          <a:sy n="91" d="100"/>
        </p:scale>
        <p:origin x="534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commentAuthors" Target="commentAuthor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918A8BA-BCD2-4323-9B30-59785C16A431}" type="doc">
      <dgm:prSet loTypeId="urn:microsoft.com/office/officeart/2005/8/layout/hProcess11" loCatId="process" qsTypeId="urn:microsoft.com/office/officeart/2005/8/quickstyle/3d4" qsCatId="3D" csTypeId="urn:microsoft.com/office/officeart/2005/8/colors/accent1_2" csCatId="accent1" phldr="1"/>
      <dgm:spPr/>
      <dgm:t>
        <a:bodyPr/>
        <a:lstStyle/>
        <a:p>
          <a:endParaRPr lang="tr-TR"/>
        </a:p>
      </dgm:t>
    </dgm:pt>
    <dgm:pt modelId="{0485AE0C-9A7F-4A6F-9CA8-AB8E738C5332}">
      <dgm:prSet/>
      <dgm:spPr/>
      <dgm:t>
        <a:bodyPr/>
        <a:lstStyle/>
        <a:p>
          <a:r>
            <a:rPr lang="tr-TR" b="1" dirty="0"/>
            <a:t>GİRİŞ</a:t>
          </a:r>
        </a:p>
      </dgm:t>
    </dgm:pt>
    <dgm:pt modelId="{8E083DF3-15F5-461A-91DB-E923CD7869C5}" type="parTrans" cxnId="{3E486099-34FB-48D8-967E-853E261DC62E}">
      <dgm:prSet/>
      <dgm:spPr/>
      <dgm:t>
        <a:bodyPr/>
        <a:lstStyle/>
        <a:p>
          <a:endParaRPr lang="tr-TR"/>
        </a:p>
      </dgm:t>
    </dgm:pt>
    <dgm:pt modelId="{D0F57000-E6B1-4E2C-BDBA-F0732CA3E432}" type="sibTrans" cxnId="{3E486099-34FB-48D8-967E-853E261DC62E}">
      <dgm:prSet/>
      <dgm:spPr/>
      <dgm:t>
        <a:bodyPr/>
        <a:lstStyle/>
        <a:p>
          <a:endParaRPr lang="tr-TR"/>
        </a:p>
      </dgm:t>
    </dgm:pt>
    <dgm:pt modelId="{035B2A1D-3E87-48DE-8AEB-A5A2ACBAE1D7}">
      <dgm:prSet/>
      <dgm:spPr/>
      <dgm:t>
        <a:bodyPr/>
        <a:lstStyle/>
        <a:p>
          <a:r>
            <a:rPr lang="tr-TR" b="1" dirty="0"/>
            <a:t>GERÇEKLİK UYGULAMALARI, ARTIRILMIŞ GERÇEKLİK [AR]</a:t>
          </a:r>
          <a:br>
            <a:rPr lang="tr-TR" b="1" dirty="0"/>
          </a:br>
          <a:r>
            <a:rPr lang="tr-TR" dirty="0"/>
            <a:t>MUSTAFA ALİ BÜSTAN</a:t>
          </a:r>
        </a:p>
      </dgm:t>
    </dgm:pt>
    <dgm:pt modelId="{1974079F-8F1B-4525-8269-525B8A850D16}" type="parTrans" cxnId="{CCB25804-42A4-4476-93B8-F93E1EEEA77B}">
      <dgm:prSet/>
      <dgm:spPr/>
      <dgm:t>
        <a:bodyPr/>
        <a:lstStyle/>
        <a:p>
          <a:endParaRPr lang="tr-TR"/>
        </a:p>
      </dgm:t>
    </dgm:pt>
    <dgm:pt modelId="{E1C3A2C8-C370-409D-9DEE-490B5C755660}" type="sibTrans" cxnId="{CCB25804-42A4-4476-93B8-F93E1EEEA77B}">
      <dgm:prSet/>
      <dgm:spPr/>
      <dgm:t>
        <a:bodyPr/>
        <a:lstStyle/>
        <a:p>
          <a:endParaRPr lang="tr-TR"/>
        </a:p>
      </dgm:t>
    </dgm:pt>
    <dgm:pt modelId="{189D2AF3-584C-4162-8B69-E6726F4B0DD9}">
      <dgm:prSet/>
      <dgm:spPr/>
      <dgm:t>
        <a:bodyPr/>
        <a:lstStyle/>
        <a:p>
          <a:r>
            <a:rPr lang="tr-TR" b="1" dirty="0"/>
            <a:t>OPTİK TEMELLİ GERÇEKLİK, VİDEO TEMELLİ GERÇEKLİK</a:t>
          </a:r>
          <a:br>
            <a:rPr lang="tr-TR" dirty="0"/>
          </a:br>
          <a:r>
            <a:rPr lang="tr-TR" dirty="0"/>
            <a:t>GÜRBÜZ YUSUF ÖZORHAN</a:t>
          </a:r>
        </a:p>
      </dgm:t>
    </dgm:pt>
    <dgm:pt modelId="{9C5C403D-B2F3-4AE8-A0BF-0CB2313FCBCE}" type="parTrans" cxnId="{DFC6C949-ABAE-4642-B82C-E6A20F4C412D}">
      <dgm:prSet/>
      <dgm:spPr/>
      <dgm:t>
        <a:bodyPr/>
        <a:lstStyle/>
        <a:p>
          <a:endParaRPr lang="tr-TR"/>
        </a:p>
      </dgm:t>
    </dgm:pt>
    <dgm:pt modelId="{7181189D-97B1-48FF-9C13-0F1C0F7BF9BB}" type="sibTrans" cxnId="{DFC6C949-ABAE-4642-B82C-E6A20F4C412D}">
      <dgm:prSet/>
      <dgm:spPr/>
      <dgm:t>
        <a:bodyPr/>
        <a:lstStyle/>
        <a:p>
          <a:endParaRPr lang="tr-TR"/>
        </a:p>
      </dgm:t>
    </dgm:pt>
    <dgm:pt modelId="{5D4622CD-36CA-414D-96A5-24408172D758}">
      <dgm:prSet/>
      <dgm:spPr/>
      <dgm:t>
        <a:bodyPr/>
        <a:lstStyle/>
        <a:p>
          <a:r>
            <a:rPr lang="tr-TR" b="1" dirty="0"/>
            <a:t>SANAL GERÇEKLİK [VR], ARTIRILMIŞ VE SANAL GERÇEKLİK KARŞILAŞTIRMASI</a:t>
          </a:r>
          <a:br>
            <a:rPr lang="tr-TR" dirty="0"/>
          </a:br>
          <a:r>
            <a:rPr lang="tr-TR" dirty="0"/>
            <a:t>İBRAHİM ÖZTEPE</a:t>
          </a:r>
        </a:p>
      </dgm:t>
    </dgm:pt>
    <dgm:pt modelId="{993DA46F-C940-41A1-BEB8-8706BA2536A7}" type="parTrans" cxnId="{5F49BAFD-F1DD-467E-B889-D39A2925DDC2}">
      <dgm:prSet/>
      <dgm:spPr/>
      <dgm:t>
        <a:bodyPr/>
        <a:lstStyle/>
        <a:p>
          <a:endParaRPr lang="tr-TR"/>
        </a:p>
      </dgm:t>
    </dgm:pt>
    <dgm:pt modelId="{4CF79F8E-FD34-43BB-B985-643AB608D5CB}" type="sibTrans" cxnId="{5F49BAFD-F1DD-467E-B889-D39A2925DDC2}">
      <dgm:prSet/>
      <dgm:spPr/>
      <dgm:t>
        <a:bodyPr/>
        <a:lstStyle/>
        <a:p>
          <a:endParaRPr lang="tr-TR"/>
        </a:p>
      </dgm:t>
    </dgm:pt>
    <dgm:pt modelId="{BE3DF8F1-F2A6-4F7D-9BB8-00910E0A4FB8}">
      <dgm:prSet/>
      <dgm:spPr/>
      <dgm:t>
        <a:bodyPr/>
        <a:lstStyle/>
        <a:p>
          <a:r>
            <a:rPr lang="tr-TR" b="1" dirty="0"/>
            <a:t>ETKİNLİK &amp; VİDEO İÇERİĞİ</a:t>
          </a:r>
        </a:p>
      </dgm:t>
    </dgm:pt>
    <dgm:pt modelId="{B98E90E7-FD2B-4005-B6C2-BEED334D2CDA}" type="parTrans" cxnId="{BF9D7976-AA41-4593-8987-5B69AA6C3BC8}">
      <dgm:prSet/>
      <dgm:spPr/>
      <dgm:t>
        <a:bodyPr/>
        <a:lstStyle/>
        <a:p>
          <a:endParaRPr lang="tr-TR"/>
        </a:p>
      </dgm:t>
    </dgm:pt>
    <dgm:pt modelId="{54B2CB06-72E7-4C11-B746-1D89B373F39A}" type="sibTrans" cxnId="{BF9D7976-AA41-4593-8987-5B69AA6C3BC8}">
      <dgm:prSet/>
      <dgm:spPr/>
      <dgm:t>
        <a:bodyPr/>
        <a:lstStyle/>
        <a:p>
          <a:endParaRPr lang="tr-TR"/>
        </a:p>
      </dgm:t>
    </dgm:pt>
    <dgm:pt modelId="{AE7F7C22-9B6C-47C3-8682-E5698E652ABE}">
      <dgm:prSet/>
      <dgm:spPr/>
      <dgm:t>
        <a:bodyPr/>
        <a:lstStyle/>
        <a:p>
          <a:r>
            <a:rPr lang="tr-TR" b="1" dirty="0"/>
            <a:t>BİTİŞ</a:t>
          </a:r>
        </a:p>
      </dgm:t>
    </dgm:pt>
    <dgm:pt modelId="{014CD434-96A8-431D-BC51-58EFF2E2645A}" type="parTrans" cxnId="{9EA3AA82-D326-4572-B938-F265750E6568}">
      <dgm:prSet/>
      <dgm:spPr/>
      <dgm:t>
        <a:bodyPr/>
        <a:lstStyle/>
        <a:p>
          <a:endParaRPr lang="tr-TR"/>
        </a:p>
      </dgm:t>
    </dgm:pt>
    <dgm:pt modelId="{02F930C9-D98C-4825-AF11-A8370522E50C}" type="sibTrans" cxnId="{9EA3AA82-D326-4572-B938-F265750E6568}">
      <dgm:prSet/>
      <dgm:spPr/>
      <dgm:t>
        <a:bodyPr/>
        <a:lstStyle/>
        <a:p>
          <a:endParaRPr lang="tr-TR"/>
        </a:p>
      </dgm:t>
    </dgm:pt>
    <dgm:pt modelId="{10213D37-7C7E-4ABE-AA81-B9D74CFD6518}" type="pres">
      <dgm:prSet presAssocID="{6918A8BA-BCD2-4323-9B30-59785C16A431}" presName="Name0" presStyleCnt="0">
        <dgm:presLayoutVars>
          <dgm:dir/>
          <dgm:resizeHandles val="exact"/>
        </dgm:presLayoutVars>
      </dgm:prSet>
      <dgm:spPr/>
    </dgm:pt>
    <dgm:pt modelId="{6C6B4CBC-3347-4577-9E49-85C65402CE34}" type="pres">
      <dgm:prSet presAssocID="{6918A8BA-BCD2-4323-9B30-59785C16A431}" presName="arrow" presStyleLbl="bgShp" presStyleIdx="0" presStyleCnt="1"/>
      <dgm:spPr/>
    </dgm:pt>
    <dgm:pt modelId="{1CBC0E0F-459E-4C03-B7D7-88A75D102B0F}" type="pres">
      <dgm:prSet presAssocID="{6918A8BA-BCD2-4323-9B30-59785C16A431}" presName="points" presStyleCnt="0"/>
      <dgm:spPr/>
    </dgm:pt>
    <dgm:pt modelId="{C5AA40CF-0375-49C6-853F-536E38551CAC}" type="pres">
      <dgm:prSet presAssocID="{0485AE0C-9A7F-4A6F-9CA8-AB8E738C5332}" presName="compositeA" presStyleCnt="0"/>
      <dgm:spPr/>
    </dgm:pt>
    <dgm:pt modelId="{D42A3814-B120-4F21-AE35-4518C35AEC74}" type="pres">
      <dgm:prSet presAssocID="{0485AE0C-9A7F-4A6F-9CA8-AB8E738C5332}" presName="textA" presStyleLbl="revTx" presStyleIdx="0" presStyleCnt="6">
        <dgm:presLayoutVars>
          <dgm:bulletEnabled val="1"/>
        </dgm:presLayoutVars>
      </dgm:prSet>
      <dgm:spPr/>
    </dgm:pt>
    <dgm:pt modelId="{E9AF5172-AA26-4C89-8DDE-DE3B622F6BE6}" type="pres">
      <dgm:prSet presAssocID="{0485AE0C-9A7F-4A6F-9CA8-AB8E738C5332}" presName="circleA" presStyleLbl="node1" presStyleIdx="0" presStyleCnt="6"/>
      <dgm:spPr/>
    </dgm:pt>
    <dgm:pt modelId="{1E33273C-2428-4ED8-99C9-564144432176}" type="pres">
      <dgm:prSet presAssocID="{0485AE0C-9A7F-4A6F-9CA8-AB8E738C5332}" presName="spaceA" presStyleCnt="0"/>
      <dgm:spPr/>
    </dgm:pt>
    <dgm:pt modelId="{B1DA5FC3-D28B-4A13-8C20-18CB7B4D56DF}" type="pres">
      <dgm:prSet presAssocID="{D0F57000-E6B1-4E2C-BDBA-F0732CA3E432}" presName="space" presStyleCnt="0"/>
      <dgm:spPr/>
    </dgm:pt>
    <dgm:pt modelId="{1282B75E-151C-4598-BFB8-07991DF5626D}" type="pres">
      <dgm:prSet presAssocID="{035B2A1D-3E87-48DE-8AEB-A5A2ACBAE1D7}" presName="compositeB" presStyleCnt="0"/>
      <dgm:spPr/>
    </dgm:pt>
    <dgm:pt modelId="{FF06A962-9072-49C0-98E7-13A9CE39E870}" type="pres">
      <dgm:prSet presAssocID="{035B2A1D-3E87-48DE-8AEB-A5A2ACBAE1D7}" presName="textB" presStyleLbl="revTx" presStyleIdx="1" presStyleCnt="6">
        <dgm:presLayoutVars>
          <dgm:bulletEnabled val="1"/>
        </dgm:presLayoutVars>
      </dgm:prSet>
      <dgm:spPr/>
    </dgm:pt>
    <dgm:pt modelId="{698B9211-01C5-4554-850E-F4969267B877}" type="pres">
      <dgm:prSet presAssocID="{035B2A1D-3E87-48DE-8AEB-A5A2ACBAE1D7}" presName="circleB" presStyleLbl="node1" presStyleIdx="1" presStyleCnt="6"/>
      <dgm:spPr/>
    </dgm:pt>
    <dgm:pt modelId="{DD55DEC2-259E-4601-9324-720F04A0EC7E}" type="pres">
      <dgm:prSet presAssocID="{035B2A1D-3E87-48DE-8AEB-A5A2ACBAE1D7}" presName="spaceB" presStyleCnt="0"/>
      <dgm:spPr/>
    </dgm:pt>
    <dgm:pt modelId="{CCDE44AD-D623-4F7A-A954-2A1B551C630F}" type="pres">
      <dgm:prSet presAssocID="{E1C3A2C8-C370-409D-9DEE-490B5C755660}" presName="space" presStyleCnt="0"/>
      <dgm:spPr/>
    </dgm:pt>
    <dgm:pt modelId="{B6FA60C0-A23E-488F-A099-E1BB8F83105C}" type="pres">
      <dgm:prSet presAssocID="{189D2AF3-584C-4162-8B69-E6726F4B0DD9}" presName="compositeA" presStyleCnt="0"/>
      <dgm:spPr/>
    </dgm:pt>
    <dgm:pt modelId="{321FA900-9899-44E4-9540-A00C2C0D3EE5}" type="pres">
      <dgm:prSet presAssocID="{189D2AF3-584C-4162-8B69-E6726F4B0DD9}" presName="textA" presStyleLbl="revTx" presStyleIdx="2" presStyleCnt="6">
        <dgm:presLayoutVars>
          <dgm:bulletEnabled val="1"/>
        </dgm:presLayoutVars>
      </dgm:prSet>
      <dgm:spPr/>
    </dgm:pt>
    <dgm:pt modelId="{C0D38D21-26B6-4618-A235-844EBC0DFEC3}" type="pres">
      <dgm:prSet presAssocID="{189D2AF3-584C-4162-8B69-E6726F4B0DD9}" presName="circleA" presStyleLbl="node1" presStyleIdx="2" presStyleCnt="6"/>
      <dgm:spPr/>
    </dgm:pt>
    <dgm:pt modelId="{177D584E-7C22-4109-95C5-60F0F4782889}" type="pres">
      <dgm:prSet presAssocID="{189D2AF3-584C-4162-8B69-E6726F4B0DD9}" presName="spaceA" presStyleCnt="0"/>
      <dgm:spPr/>
    </dgm:pt>
    <dgm:pt modelId="{7D6C0F4A-0CE9-4432-A2EE-C5CC1F991CA7}" type="pres">
      <dgm:prSet presAssocID="{7181189D-97B1-48FF-9C13-0F1C0F7BF9BB}" presName="space" presStyleCnt="0"/>
      <dgm:spPr/>
    </dgm:pt>
    <dgm:pt modelId="{17E7E581-F35B-4E9E-817C-BE0D676BE53F}" type="pres">
      <dgm:prSet presAssocID="{5D4622CD-36CA-414D-96A5-24408172D758}" presName="compositeB" presStyleCnt="0"/>
      <dgm:spPr/>
    </dgm:pt>
    <dgm:pt modelId="{964ACCCC-0C4E-4130-9EEB-1FA842CFF911}" type="pres">
      <dgm:prSet presAssocID="{5D4622CD-36CA-414D-96A5-24408172D758}" presName="textB" presStyleLbl="revTx" presStyleIdx="3" presStyleCnt="6">
        <dgm:presLayoutVars>
          <dgm:bulletEnabled val="1"/>
        </dgm:presLayoutVars>
      </dgm:prSet>
      <dgm:spPr/>
    </dgm:pt>
    <dgm:pt modelId="{1DDC5609-5502-415B-8D43-E470D8313D48}" type="pres">
      <dgm:prSet presAssocID="{5D4622CD-36CA-414D-96A5-24408172D758}" presName="circleB" presStyleLbl="node1" presStyleIdx="3" presStyleCnt="6"/>
      <dgm:spPr/>
    </dgm:pt>
    <dgm:pt modelId="{DAE0732E-75C3-4E84-858C-AF6939928FBE}" type="pres">
      <dgm:prSet presAssocID="{5D4622CD-36CA-414D-96A5-24408172D758}" presName="spaceB" presStyleCnt="0"/>
      <dgm:spPr/>
    </dgm:pt>
    <dgm:pt modelId="{F6384B0F-B306-47D5-9E60-86F725FB8CD8}" type="pres">
      <dgm:prSet presAssocID="{4CF79F8E-FD34-43BB-B985-643AB608D5CB}" presName="space" presStyleCnt="0"/>
      <dgm:spPr/>
    </dgm:pt>
    <dgm:pt modelId="{4ED5DE91-D915-456C-8696-EADC13F4112E}" type="pres">
      <dgm:prSet presAssocID="{BE3DF8F1-F2A6-4F7D-9BB8-00910E0A4FB8}" presName="compositeA" presStyleCnt="0"/>
      <dgm:spPr/>
    </dgm:pt>
    <dgm:pt modelId="{8985376C-2D71-4F44-90EE-2F5B3CA3CBE5}" type="pres">
      <dgm:prSet presAssocID="{BE3DF8F1-F2A6-4F7D-9BB8-00910E0A4FB8}" presName="textA" presStyleLbl="revTx" presStyleIdx="4" presStyleCnt="6">
        <dgm:presLayoutVars>
          <dgm:bulletEnabled val="1"/>
        </dgm:presLayoutVars>
      </dgm:prSet>
      <dgm:spPr/>
    </dgm:pt>
    <dgm:pt modelId="{D27304E9-073F-495B-9702-2EF2DBA30702}" type="pres">
      <dgm:prSet presAssocID="{BE3DF8F1-F2A6-4F7D-9BB8-00910E0A4FB8}" presName="circleA" presStyleLbl="node1" presStyleIdx="4" presStyleCnt="6"/>
      <dgm:spPr/>
    </dgm:pt>
    <dgm:pt modelId="{C1361EFD-B4FE-424D-9B9F-12ABF539A7CA}" type="pres">
      <dgm:prSet presAssocID="{BE3DF8F1-F2A6-4F7D-9BB8-00910E0A4FB8}" presName="spaceA" presStyleCnt="0"/>
      <dgm:spPr/>
    </dgm:pt>
    <dgm:pt modelId="{EB1ED392-DF8B-4899-882D-D069ED4E51A1}" type="pres">
      <dgm:prSet presAssocID="{54B2CB06-72E7-4C11-B746-1D89B373F39A}" presName="space" presStyleCnt="0"/>
      <dgm:spPr/>
    </dgm:pt>
    <dgm:pt modelId="{E8C44630-5EED-4EAE-9004-C369CB32B8D6}" type="pres">
      <dgm:prSet presAssocID="{AE7F7C22-9B6C-47C3-8682-E5698E652ABE}" presName="compositeB" presStyleCnt="0"/>
      <dgm:spPr/>
    </dgm:pt>
    <dgm:pt modelId="{54A0F389-1E2A-4158-BDC9-15E8055CB1A4}" type="pres">
      <dgm:prSet presAssocID="{AE7F7C22-9B6C-47C3-8682-E5698E652ABE}" presName="textB" presStyleLbl="revTx" presStyleIdx="5" presStyleCnt="6">
        <dgm:presLayoutVars>
          <dgm:bulletEnabled val="1"/>
        </dgm:presLayoutVars>
      </dgm:prSet>
      <dgm:spPr/>
    </dgm:pt>
    <dgm:pt modelId="{A83C5226-592D-4221-BAB0-5E591ADA0857}" type="pres">
      <dgm:prSet presAssocID="{AE7F7C22-9B6C-47C3-8682-E5698E652ABE}" presName="circleB" presStyleLbl="node1" presStyleIdx="5" presStyleCnt="6"/>
      <dgm:spPr/>
    </dgm:pt>
    <dgm:pt modelId="{F2326F5E-4B5F-49F6-A6DE-ED2501B6C604}" type="pres">
      <dgm:prSet presAssocID="{AE7F7C22-9B6C-47C3-8682-E5698E652ABE}" presName="spaceB" presStyleCnt="0"/>
      <dgm:spPr/>
    </dgm:pt>
  </dgm:ptLst>
  <dgm:cxnLst>
    <dgm:cxn modelId="{CCB25804-42A4-4476-93B8-F93E1EEEA77B}" srcId="{6918A8BA-BCD2-4323-9B30-59785C16A431}" destId="{035B2A1D-3E87-48DE-8AEB-A5A2ACBAE1D7}" srcOrd="1" destOrd="0" parTransId="{1974079F-8F1B-4525-8269-525B8A850D16}" sibTransId="{E1C3A2C8-C370-409D-9DEE-490B5C755660}"/>
    <dgm:cxn modelId="{C3137429-0768-44D5-B189-230C02255C03}" type="presOf" srcId="{035B2A1D-3E87-48DE-8AEB-A5A2ACBAE1D7}" destId="{FF06A962-9072-49C0-98E7-13A9CE39E870}" srcOrd="0" destOrd="0" presId="urn:microsoft.com/office/officeart/2005/8/layout/hProcess11"/>
    <dgm:cxn modelId="{DFC6C949-ABAE-4642-B82C-E6A20F4C412D}" srcId="{6918A8BA-BCD2-4323-9B30-59785C16A431}" destId="{189D2AF3-584C-4162-8B69-E6726F4B0DD9}" srcOrd="2" destOrd="0" parTransId="{9C5C403D-B2F3-4AE8-A0BF-0CB2313FCBCE}" sibTransId="{7181189D-97B1-48FF-9C13-0F1C0F7BF9BB}"/>
    <dgm:cxn modelId="{BF9D7976-AA41-4593-8987-5B69AA6C3BC8}" srcId="{6918A8BA-BCD2-4323-9B30-59785C16A431}" destId="{BE3DF8F1-F2A6-4F7D-9BB8-00910E0A4FB8}" srcOrd="4" destOrd="0" parTransId="{B98E90E7-FD2B-4005-B6C2-BEED334D2CDA}" sibTransId="{54B2CB06-72E7-4C11-B746-1D89B373F39A}"/>
    <dgm:cxn modelId="{9EA3AA82-D326-4572-B938-F265750E6568}" srcId="{6918A8BA-BCD2-4323-9B30-59785C16A431}" destId="{AE7F7C22-9B6C-47C3-8682-E5698E652ABE}" srcOrd="5" destOrd="0" parTransId="{014CD434-96A8-431D-BC51-58EFF2E2645A}" sibTransId="{02F930C9-D98C-4825-AF11-A8370522E50C}"/>
    <dgm:cxn modelId="{3E486099-34FB-48D8-967E-853E261DC62E}" srcId="{6918A8BA-BCD2-4323-9B30-59785C16A431}" destId="{0485AE0C-9A7F-4A6F-9CA8-AB8E738C5332}" srcOrd="0" destOrd="0" parTransId="{8E083DF3-15F5-461A-91DB-E923CD7869C5}" sibTransId="{D0F57000-E6B1-4E2C-BDBA-F0732CA3E432}"/>
    <dgm:cxn modelId="{15566F9C-A8EA-475A-ACF4-54B4EF62E856}" type="presOf" srcId="{0485AE0C-9A7F-4A6F-9CA8-AB8E738C5332}" destId="{D42A3814-B120-4F21-AE35-4518C35AEC74}" srcOrd="0" destOrd="0" presId="urn:microsoft.com/office/officeart/2005/8/layout/hProcess11"/>
    <dgm:cxn modelId="{7BE62BA5-2B4E-4650-A5BF-B147289BD630}" type="presOf" srcId="{AE7F7C22-9B6C-47C3-8682-E5698E652ABE}" destId="{54A0F389-1E2A-4158-BDC9-15E8055CB1A4}" srcOrd="0" destOrd="0" presId="urn:microsoft.com/office/officeart/2005/8/layout/hProcess11"/>
    <dgm:cxn modelId="{1A44F2C0-95F6-463A-B74F-9746C15B00FB}" type="presOf" srcId="{6918A8BA-BCD2-4323-9B30-59785C16A431}" destId="{10213D37-7C7E-4ABE-AA81-B9D74CFD6518}" srcOrd="0" destOrd="0" presId="urn:microsoft.com/office/officeart/2005/8/layout/hProcess11"/>
    <dgm:cxn modelId="{BDCDC7DB-B47F-468C-A090-1C68BD6E92B2}" type="presOf" srcId="{BE3DF8F1-F2A6-4F7D-9BB8-00910E0A4FB8}" destId="{8985376C-2D71-4F44-90EE-2F5B3CA3CBE5}" srcOrd="0" destOrd="0" presId="urn:microsoft.com/office/officeart/2005/8/layout/hProcess11"/>
    <dgm:cxn modelId="{A37FCAEC-8EFF-459A-BF4C-B9A881E21460}" type="presOf" srcId="{5D4622CD-36CA-414D-96A5-24408172D758}" destId="{964ACCCC-0C4E-4130-9EEB-1FA842CFF911}" srcOrd="0" destOrd="0" presId="urn:microsoft.com/office/officeart/2005/8/layout/hProcess11"/>
    <dgm:cxn modelId="{5F49BAFD-F1DD-467E-B889-D39A2925DDC2}" srcId="{6918A8BA-BCD2-4323-9B30-59785C16A431}" destId="{5D4622CD-36CA-414D-96A5-24408172D758}" srcOrd="3" destOrd="0" parTransId="{993DA46F-C940-41A1-BEB8-8706BA2536A7}" sibTransId="{4CF79F8E-FD34-43BB-B985-643AB608D5CB}"/>
    <dgm:cxn modelId="{86F9F2FF-712E-45E0-B8B1-6ECF17645638}" type="presOf" srcId="{189D2AF3-584C-4162-8B69-E6726F4B0DD9}" destId="{321FA900-9899-44E4-9540-A00C2C0D3EE5}" srcOrd="0" destOrd="0" presId="urn:microsoft.com/office/officeart/2005/8/layout/hProcess11"/>
    <dgm:cxn modelId="{4DCF25D1-EDB7-46C6-8FC8-8726C8F730B6}" type="presParOf" srcId="{10213D37-7C7E-4ABE-AA81-B9D74CFD6518}" destId="{6C6B4CBC-3347-4577-9E49-85C65402CE34}" srcOrd="0" destOrd="0" presId="urn:microsoft.com/office/officeart/2005/8/layout/hProcess11"/>
    <dgm:cxn modelId="{8AF0B90C-F6E5-4354-AC70-214AC70BE638}" type="presParOf" srcId="{10213D37-7C7E-4ABE-AA81-B9D74CFD6518}" destId="{1CBC0E0F-459E-4C03-B7D7-88A75D102B0F}" srcOrd="1" destOrd="0" presId="urn:microsoft.com/office/officeart/2005/8/layout/hProcess11"/>
    <dgm:cxn modelId="{B51384CC-4F46-40AE-8BC2-E5E304F6DC71}" type="presParOf" srcId="{1CBC0E0F-459E-4C03-B7D7-88A75D102B0F}" destId="{C5AA40CF-0375-49C6-853F-536E38551CAC}" srcOrd="0" destOrd="0" presId="urn:microsoft.com/office/officeart/2005/8/layout/hProcess11"/>
    <dgm:cxn modelId="{54BA77F9-DF3B-42F8-96FB-EA259CF89D9F}" type="presParOf" srcId="{C5AA40CF-0375-49C6-853F-536E38551CAC}" destId="{D42A3814-B120-4F21-AE35-4518C35AEC74}" srcOrd="0" destOrd="0" presId="urn:microsoft.com/office/officeart/2005/8/layout/hProcess11"/>
    <dgm:cxn modelId="{9A766D4A-A59D-42A1-81B6-85A77BE991B4}" type="presParOf" srcId="{C5AA40CF-0375-49C6-853F-536E38551CAC}" destId="{E9AF5172-AA26-4C89-8DDE-DE3B622F6BE6}" srcOrd="1" destOrd="0" presId="urn:microsoft.com/office/officeart/2005/8/layout/hProcess11"/>
    <dgm:cxn modelId="{17A7B5CA-1574-447E-9D57-ACB9E09CA98D}" type="presParOf" srcId="{C5AA40CF-0375-49C6-853F-536E38551CAC}" destId="{1E33273C-2428-4ED8-99C9-564144432176}" srcOrd="2" destOrd="0" presId="urn:microsoft.com/office/officeart/2005/8/layout/hProcess11"/>
    <dgm:cxn modelId="{730D44DD-D3CA-4DF2-B301-74A30F0BB2AB}" type="presParOf" srcId="{1CBC0E0F-459E-4C03-B7D7-88A75D102B0F}" destId="{B1DA5FC3-D28B-4A13-8C20-18CB7B4D56DF}" srcOrd="1" destOrd="0" presId="urn:microsoft.com/office/officeart/2005/8/layout/hProcess11"/>
    <dgm:cxn modelId="{7884BA1F-7777-4473-AEE8-C5243C0E23BD}" type="presParOf" srcId="{1CBC0E0F-459E-4C03-B7D7-88A75D102B0F}" destId="{1282B75E-151C-4598-BFB8-07991DF5626D}" srcOrd="2" destOrd="0" presId="urn:microsoft.com/office/officeart/2005/8/layout/hProcess11"/>
    <dgm:cxn modelId="{06FC5A70-22D6-4964-93F2-B385991F5CD4}" type="presParOf" srcId="{1282B75E-151C-4598-BFB8-07991DF5626D}" destId="{FF06A962-9072-49C0-98E7-13A9CE39E870}" srcOrd="0" destOrd="0" presId="urn:microsoft.com/office/officeart/2005/8/layout/hProcess11"/>
    <dgm:cxn modelId="{EE1E4122-9B5E-4DC7-BDFB-F404683B2056}" type="presParOf" srcId="{1282B75E-151C-4598-BFB8-07991DF5626D}" destId="{698B9211-01C5-4554-850E-F4969267B877}" srcOrd="1" destOrd="0" presId="urn:microsoft.com/office/officeart/2005/8/layout/hProcess11"/>
    <dgm:cxn modelId="{C465F874-7E12-4D3A-9A9E-CDCE8CCE5820}" type="presParOf" srcId="{1282B75E-151C-4598-BFB8-07991DF5626D}" destId="{DD55DEC2-259E-4601-9324-720F04A0EC7E}" srcOrd="2" destOrd="0" presId="urn:microsoft.com/office/officeart/2005/8/layout/hProcess11"/>
    <dgm:cxn modelId="{23D18704-ECAA-4CCD-B203-B7B19F45A4BF}" type="presParOf" srcId="{1CBC0E0F-459E-4C03-B7D7-88A75D102B0F}" destId="{CCDE44AD-D623-4F7A-A954-2A1B551C630F}" srcOrd="3" destOrd="0" presId="urn:microsoft.com/office/officeart/2005/8/layout/hProcess11"/>
    <dgm:cxn modelId="{49314F0D-38BA-41EB-954D-123B45038B77}" type="presParOf" srcId="{1CBC0E0F-459E-4C03-B7D7-88A75D102B0F}" destId="{B6FA60C0-A23E-488F-A099-E1BB8F83105C}" srcOrd="4" destOrd="0" presId="urn:microsoft.com/office/officeart/2005/8/layout/hProcess11"/>
    <dgm:cxn modelId="{487600F8-6817-49FC-A66F-FF054DA9C85D}" type="presParOf" srcId="{B6FA60C0-A23E-488F-A099-E1BB8F83105C}" destId="{321FA900-9899-44E4-9540-A00C2C0D3EE5}" srcOrd="0" destOrd="0" presId="urn:microsoft.com/office/officeart/2005/8/layout/hProcess11"/>
    <dgm:cxn modelId="{9E3EC71A-D9E2-4489-870D-B0BC4ED6913E}" type="presParOf" srcId="{B6FA60C0-A23E-488F-A099-E1BB8F83105C}" destId="{C0D38D21-26B6-4618-A235-844EBC0DFEC3}" srcOrd="1" destOrd="0" presId="urn:microsoft.com/office/officeart/2005/8/layout/hProcess11"/>
    <dgm:cxn modelId="{80FC5D71-D6CA-449B-BBD3-C7074DBBB554}" type="presParOf" srcId="{B6FA60C0-A23E-488F-A099-E1BB8F83105C}" destId="{177D584E-7C22-4109-95C5-60F0F4782889}" srcOrd="2" destOrd="0" presId="urn:microsoft.com/office/officeart/2005/8/layout/hProcess11"/>
    <dgm:cxn modelId="{0C5B1014-ED97-46FC-92EB-29CD3188A198}" type="presParOf" srcId="{1CBC0E0F-459E-4C03-B7D7-88A75D102B0F}" destId="{7D6C0F4A-0CE9-4432-A2EE-C5CC1F991CA7}" srcOrd="5" destOrd="0" presId="urn:microsoft.com/office/officeart/2005/8/layout/hProcess11"/>
    <dgm:cxn modelId="{7443D89B-2AEB-4DF7-B810-2F6C28D8DEB1}" type="presParOf" srcId="{1CBC0E0F-459E-4C03-B7D7-88A75D102B0F}" destId="{17E7E581-F35B-4E9E-817C-BE0D676BE53F}" srcOrd="6" destOrd="0" presId="urn:microsoft.com/office/officeart/2005/8/layout/hProcess11"/>
    <dgm:cxn modelId="{D70C8A45-346A-42DE-9392-23A0F9A1D77B}" type="presParOf" srcId="{17E7E581-F35B-4E9E-817C-BE0D676BE53F}" destId="{964ACCCC-0C4E-4130-9EEB-1FA842CFF911}" srcOrd="0" destOrd="0" presId="urn:microsoft.com/office/officeart/2005/8/layout/hProcess11"/>
    <dgm:cxn modelId="{EC2C71EE-6294-4EA1-8103-FB76B11B88C0}" type="presParOf" srcId="{17E7E581-F35B-4E9E-817C-BE0D676BE53F}" destId="{1DDC5609-5502-415B-8D43-E470D8313D48}" srcOrd="1" destOrd="0" presId="urn:microsoft.com/office/officeart/2005/8/layout/hProcess11"/>
    <dgm:cxn modelId="{048385E1-4251-4763-BDAB-14E698BAF96A}" type="presParOf" srcId="{17E7E581-F35B-4E9E-817C-BE0D676BE53F}" destId="{DAE0732E-75C3-4E84-858C-AF6939928FBE}" srcOrd="2" destOrd="0" presId="urn:microsoft.com/office/officeart/2005/8/layout/hProcess11"/>
    <dgm:cxn modelId="{173DA3AA-119B-4317-9E96-6FCC376385F1}" type="presParOf" srcId="{1CBC0E0F-459E-4C03-B7D7-88A75D102B0F}" destId="{F6384B0F-B306-47D5-9E60-86F725FB8CD8}" srcOrd="7" destOrd="0" presId="urn:microsoft.com/office/officeart/2005/8/layout/hProcess11"/>
    <dgm:cxn modelId="{9372A5A0-6EA7-4DD5-AF9B-AF7C8830DD0F}" type="presParOf" srcId="{1CBC0E0F-459E-4C03-B7D7-88A75D102B0F}" destId="{4ED5DE91-D915-456C-8696-EADC13F4112E}" srcOrd="8" destOrd="0" presId="urn:microsoft.com/office/officeart/2005/8/layout/hProcess11"/>
    <dgm:cxn modelId="{DE02517F-A01B-4790-A533-5C19D061BF73}" type="presParOf" srcId="{4ED5DE91-D915-456C-8696-EADC13F4112E}" destId="{8985376C-2D71-4F44-90EE-2F5B3CA3CBE5}" srcOrd="0" destOrd="0" presId="urn:microsoft.com/office/officeart/2005/8/layout/hProcess11"/>
    <dgm:cxn modelId="{50B424EC-E2EA-4F20-9AC4-E6FAB796E95F}" type="presParOf" srcId="{4ED5DE91-D915-456C-8696-EADC13F4112E}" destId="{D27304E9-073F-495B-9702-2EF2DBA30702}" srcOrd="1" destOrd="0" presId="urn:microsoft.com/office/officeart/2005/8/layout/hProcess11"/>
    <dgm:cxn modelId="{D6D6F8E9-E5DB-4AB4-B9A4-4258F833D02D}" type="presParOf" srcId="{4ED5DE91-D915-456C-8696-EADC13F4112E}" destId="{C1361EFD-B4FE-424D-9B9F-12ABF539A7CA}" srcOrd="2" destOrd="0" presId="urn:microsoft.com/office/officeart/2005/8/layout/hProcess11"/>
    <dgm:cxn modelId="{E0E37848-4A70-4F30-BEA9-A9E79F9781A2}" type="presParOf" srcId="{1CBC0E0F-459E-4C03-B7D7-88A75D102B0F}" destId="{EB1ED392-DF8B-4899-882D-D069ED4E51A1}" srcOrd="9" destOrd="0" presId="urn:microsoft.com/office/officeart/2005/8/layout/hProcess11"/>
    <dgm:cxn modelId="{57CD331C-C6F5-4961-8959-1A5DC48069C6}" type="presParOf" srcId="{1CBC0E0F-459E-4C03-B7D7-88A75D102B0F}" destId="{E8C44630-5EED-4EAE-9004-C369CB32B8D6}" srcOrd="10" destOrd="0" presId="urn:microsoft.com/office/officeart/2005/8/layout/hProcess11"/>
    <dgm:cxn modelId="{7653C3ED-8B8C-4F35-BC79-6BA7D725F3F5}" type="presParOf" srcId="{E8C44630-5EED-4EAE-9004-C369CB32B8D6}" destId="{54A0F389-1E2A-4158-BDC9-15E8055CB1A4}" srcOrd="0" destOrd="0" presId="urn:microsoft.com/office/officeart/2005/8/layout/hProcess11"/>
    <dgm:cxn modelId="{747CC222-19FE-4D6A-B6EC-E6336C77E561}" type="presParOf" srcId="{E8C44630-5EED-4EAE-9004-C369CB32B8D6}" destId="{A83C5226-592D-4221-BAB0-5E591ADA0857}" srcOrd="1" destOrd="0" presId="urn:microsoft.com/office/officeart/2005/8/layout/hProcess11"/>
    <dgm:cxn modelId="{A83A4D4A-3D65-41CA-A11F-4B51721D4F66}" type="presParOf" srcId="{E8C44630-5EED-4EAE-9004-C369CB32B8D6}" destId="{F2326F5E-4B5F-49F6-A6DE-ED2501B6C604}" srcOrd="2" destOrd="0" presId="urn:microsoft.com/office/officeart/2005/8/layout/hProcess1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C6B4CBC-3347-4577-9E49-85C65402CE34}">
      <dsp:nvSpPr>
        <dsp:cNvPr id="0" name=""/>
        <dsp:cNvSpPr/>
      </dsp:nvSpPr>
      <dsp:spPr>
        <a:xfrm>
          <a:off x="0" y="1094739"/>
          <a:ext cx="10131425" cy="1459653"/>
        </a:xfrm>
        <a:prstGeom prst="notchedRightArrow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z="-12700" extrusionH="1700" prstMaterial="translucentPowder">
          <a:bevelT w="25400" h="6350" prst="softRound"/>
          <a:bevelB w="0" h="0" prst="convex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42A3814-B120-4F21-AE35-4518C35AEC74}">
      <dsp:nvSpPr>
        <dsp:cNvPr id="0" name=""/>
        <dsp:cNvSpPr/>
      </dsp:nvSpPr>
      <dsp:spPr>
        <a:xfrm>
          <a:off x="2504" y="0"/>
          <a:ext cx="1458123" cy="145965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2456" tIns="92456" rIns="92456" bIns="92456" numCol="1" spcCol="1270" anchor="b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300" b="1" kern="1200" dirty="0"/>
            <a:t>GİRİŞ</a:t>
          </a:r>
        </a:p>
      </dsp:txBody>
      <dsp:txXfrm>
        <a:off x="2504" y="0"/>
        <a:ext cx="1458123" cy="1459653"/>
      </dsp:txXfrm>
    </dsp:sp>
    <dsp:sp modelId="{E9AF5172-AA26-4C89-8DDE-DE3B622F6BE6}">
      <dsp:nvSpPr>
        <dsp:cNvPr id="0" name=""/>
        <dsp:cNvSpPr/>
      </dsp:nvSpPr>
      <dsp:spPr>
        <a:xfrm>
          <a:off x="549109" y="1642109"/>
          <a:ext cx="364913" cy="364913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F06A962-9072-49C0-98E7-13A9CE39E870}">
      <dsp:nvSpPr>
        <dsp:cNvPr id="0" name=""/>
        <dsp:cNvSpPr/>
      </dsp:nvSpPr>
      <dsp:spPr>
        <a:xfrm>
          <a:off x="1533534" y="2189479"/>
          <a:ext cx="1458123" cy="145965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2456" tIns="92456" rIns="92456" bIns="92456" numCol="1" spcCol="1270" anchor="t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300" b="1" kern="1200" dirty="0"/>
            <a:t>GERÇEKLİK UYGULAMALARI, ARTIRILMIŞ GERÇEKLİK [AR]</a:t>
          </a:r>
          <a:br>
            <a:rPr lang="tr-TR" sz="1300" b="1" kern="1200" dirty="0"/>
          </a:br>
          <a:r>
            <a:rPr lang="tr-TR" sz="1300" kern="1200" dirty="0"/>
            <a:t>MUSTAFA ALİ BÜSTAN</a:t>
          </a:r>
        </a:p>
      </dsp:txBody>
      <dsp:txXfrm>
        <a:off x="1533534" y="2189479"/>
        <a:ext cx="1458123" cy="1459653"/>
      </dsp:txXfrm>
    </dsp:sp>
    <dsp:sp modelId="{698B9211-01C5-4554-850E-F4969267B877}">
      <dsp:nvSpPr>
        <dsp:cNvPr id="0" name=""/>
        <dsp:cNvSpPr/>
      </dsp:nvSpPr>
      <dsp:spPr>
        <a:xfrm>
          <a:off x="2080139" y="1642109"/>
          <a:ext cx="364913" cy="364913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21FA900-9899-44E4-9540-A00C2C0D3EE5}">
      <dsp:nvSpPr>
        <dsp:cNvPr id="0" name=""/>
        <dsp:cNvSpPr/>
      </dsp:nvSpPr>
      <dsp:spPr>
        <a:xfrm>
          <a:off x="3064564" y="0"/>
          <a:ext cx="1458123" cy="145965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2456" tIns="92456" rIns="92456" bIns="92456" numCol="1" spcCol="1270" anchor="b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300" b="1" kern="1200" dirty="0"/>
            <a:t>OPTİK TEMELLİ GERÇEKLİK, VİDEO TEMELLİ GERÇEKLİK</a:t>
          </a:r>
          <a:br>
            <a:rPr lang="tr-TR" sz="1300" kern="1200" dirty="0"/>
          </a:br>
          <a:r>
            <a:rPr lang="tr-TR" sz="1300" kern="1200" dirty="0"/>
            <a:t>GÜRBÜZ YUSUF ÖZORHAN</a:t>
          </a:r>
        </a:p>
      </dsp:txBody>
      <dsp:txXfrm>
        <a:off x="3064564" y="0"/>
        <a:ext cx="1458123" cy="1459653"/>
      </dsp:txXfrm>
    </dsp:sp>
    <dsp:sp modelId="{C0D38D21-26B6-4618-A235-844EBC0DFEC3}">
      <dsp:nvSpPr>
        <dsp:cNvPr id="0" name=""/>
        <dsp:cNvSpPr/>
      </dsp:nvSpPr>
      <dsp:spPr>
        <a:xfrm>
          <a:off x="3611169" y="1642109"/>
          <a:ext cx="364913" cy="364913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64ACCCC-0C4E-4130-9EEB-1FA842CFF911}">
      <dsp:nvSpPr>
        <dsp:cNvPr id="0" name=""/>
        <dsp:cNvSpPr/>
      </dsp:nvSpPr>
      <dsp:spPr>
        <a:xfrm>
          <a:off x="4595594" y="2189479"/>
          <a:ext cx="1458123" cy="145965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2456" tIns="92456" rIns="92456" bIns="92456" numCol="1" spcCol="1270" anchor="t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300" b="1" kern="1200" dirty="0"/>
            <a:t>SANAL GERÇEKLİK [VR], ARTIRILMIŞ VE SANAL GERÇEKLİK KARŞILAŞTIRMASI</a:t>
          </a:r>
          <a:br>
            <a:rPr lang="tr-TR" sz="1300" kern="1200" dirty="0"/>
          </a:br>
          <a:r>
            <a:rPr lang="tr-TR" sz="1300" kern="1200" dirty="0"/>
            <a:t>İBRAHİM ÖZTEPE</a:t>
          </a:r>
        </a:p>
      </dsp:txBody>
      <dsp:txXfrm>
        <a:off x="4595594" y="2189479"/>
        <a:ext cx="1458123" cy="1459653"/>
      </dsp:txXfrm>
    </dsp:sp>
    <dsp:sp modelId="{1DDC5609-5502-415B-8D43-E470D8313D48}">
      <dsp:nvSpPr>
        <dsp:cNvPr id="0" name=""/>
        <dsp:cNvSpPr/>
      </dsp:nvSpPr>
      <dsp:spPr>
        <a:xfrm>
          <a:off x="5142199" y="1642109"/>
          <a:ext cx="364913" cy="364913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985376C-2D71-4F44-90EE-2F5B3CA3CBE5}">
      <dsp:nvSpPr>
        <dsp:cNvPr id="0" name=""/>
        <dsp:cNvSpPr/>
      </dsp:nvSpPr>
      <dsp:spPr>
        <a:xfrm>
          <a:off x="6126624" y="0"/>
          <a:ext cx="1458123" cy="145965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2456" tIns="92456" rIns="92456" bIns="92456" numCol="1" spcCol="1270" anchor="b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300" b="1" kern="1200" dirty="0"/>
            <a:t>ETKİNLİK &amp; VİDEO İÇERİĞİ</a:t>
          </a:r>
        </a:p>
      </dsp:txBody>
      <dsp:txXfrm>
        <a:off x="6126624" y="0"/>
        <a:ext cx="1458123" cy="1459653"/>
      </dsp:txXfrm>
    </dsp:sp>
    <dsp:sp modelId="{D27304E9-073F-495B-9702-2EF2DBA30702}">
      <dsp:nvSpPr>
        <dsp:cNvPr id="0" name=""/>
        <dsp:cNvSpPr/>
      </dsp:nvSpPr>
      <dsp:spPr>
        <a:xfrm>
          <a:off x="6673229" y="1642109"/>
          <a:ext cx="364913" cy="364913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4A0F389-1E2A-4158-BDC9-15E8055CB1A4}">
      <dsp:nvSpPr>
        <dsp:cNvPr id="0" name=""/>
        <dsp:cNvSpPr/>
      </dsp:nvSpPr>
      <dsp:spPr>
        <a:xfrm>
          <a:off x="7657654" y="2189479"/>
          <a:ext cx="1458123" cy="145965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2456" tIns="92456" rIns="92456" bIns="92456" numCol="1" spcCol="1270" anchor="t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300" b="1" kern="1200" dirty="0"/>
            <a:t>BİTİŞ</a:t>
          </a:r>
        </a:p>
      </dsp:txBody>
      <dsp:txXfrm>
        <a:off x="7657654" y="2189479"/>
        <a:ext cx="1458123" cy="1459653"/>
      </dsp:txXfrm>
    </dsp:sp>
    <dsp:sp modelId="{A83C5226-592D-4221-BAB0-5E591ADA0857}">
      <dsp:nvSpPr>
        <dsp:cNvPr id="0" name=""/>
        <dsp:cNvSpPr/>
      </dsp:nvSpPr>
      <dsp:spPr>
        <a:xfrm>
          <a:off x="8204259" y="1642109"/>
          <a:ext cx="364913" cy="364913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Process11">
  <dgm:title val=""/>
  <dgm:desc val=""/>
  <dgm:catLst>
    <dgm:cat type="process" pri="8000"/>
    <dgm:cat type="convert" pri="14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1">
      <dgm:if name="Name2" func="var" arg="dir" op="equ" val="norm">
        <dgm:constrLst>
          <dgm:constr type="w" for="ch" forName="arrow" refType="w"/>
          <dgm:constr type="h" for="ch" forName="arrow" refType="h" fact="0.4"/>
          <dgm:constr type="ctrY" for="ch" forName="arrow" refType="h" fact="0.5"/>
          <dgm:constr type="l" for="ch" forName="arrow"/>
          <dgm:constr type="w" for="ch" forName="points" refType="w" fact="0.9"/>
          <dgm:constr type="h" for="ch" forName="points" refType="h"/>
          <dgm:constr type="t" for="ch" forName="points"/>
          <dgm:constr type="l" for="ch" forName="points"/>
        </dgm:constrLst>
      </dgm:if>
      <dgm:else name="Name3">
        <dgm:constrLst>
          <dgm:constr type="w" for="ch" forName="arrow" refType="w"/>
          <dgm:constr type="h" for="ch" forName="arrow" refType="h" fact="0.4"/>
          <dgm:constr type="ctrY" for="ch" forName="arrow" refType="h" fact="0.5"/>
          <dgm:constr type="r" for="ch" forName="arrow" refType="w"/>
          <dgm:constr type="w" for="ch" forName="points" refType="w" fact="0.9"/>
          <dgm:constr type="h" for="ch" forName="points" refType="h"/>
          <dgm:constr type="t" for="ch" forName="points"/>
          <dgm:constr type="r" for="ch" forName="points" refType="w"/>
        </dgm:constrLst>
      </dgm:else>
    </dgm:choose>
    <dgm:ruleLst/>
    <dgm:layoutNode name="arrow" styleLbl="bgShp">
      <dgm:alg type="sp"/>
      <dgm:choose name="Name4">
        <dgm:if name="Name5" func="var" arg="dir" op="equ" val="norm">
          <dgm:shape xmlns:r="http://schemas.openxmlformats.org/officeDocument/2006/relationships" type="notchedRightArrow" r:blip="">
            <dgm:adjLst/>
          </dgm:shape>
        </dgm:if>
        <dgm:else name="Name6">
          <dgm:shape xmlns:r="http://schemas.openxmlformats.org/officeDocument/2006/relationships" rot="180" type="notchedRightArrow" r:blip="">
            <dgm:adjLst/>
          </dgm:shape>
        </dgm:else>
      </dgm:choose>
      <dgm:presOf/>
      <dgm:constrLst/>
      <dgm:ruleLst/>
    </dgm:layoutNode>
    <dgm:layoutNode name="points">
      <dgm:choose name="Name7">
        <dgm:if name="Name8" func="var" arg="dir" op="equ" val="norm">
          <dgm:alg type="lin">
            <dgm:param type="linDir" val="fromL"/>
          </dgm:alg>
        </dgm:if>
        <dgm:else name="Name9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ositeA" refType="w"/>
        <dgm:constr type="h" for="ch" forName="compositeA" refType="h"/>
        <dgm:constr type="w" for="ch" forName="compositeB" refType="w" refFor="ch" refForName="compositeA" op="equ"/>
        <dgm:constr type="h" for="ch" forName="compositeB" refType="h" refFor="ch" refForName="compositeA" op="equ"/>
        <dgm:constr type="primFontSz" for="des" ptType="node" op="equ" val="65"/>
        <dgm:constr type="w" for="ch" forName="space" refType="w" refFor="ch" refForName="compositeA" op="equ" fact="0.05"/>
      </dgm:constrLst>
      <dgm:ruleLst/>
      <dgm:forEach name="Name10" axis="ch" ptType="node">
        <dgm:choose name="Name11">
          <dgm:if name="Name12" axis="self" ptType="node" func="posOdd" op="equ" val="1">
            <dgm:layoutNode name="compositeA">
              <dgm:alg type="composite"/>
              <dgm:shape xmlns:r="http://schemas.openxmlformats.org/officeDocument/2006/relationships" r:blip="">
                <dgm:adjLst/>
              </dgm:shape>
              <dgm:presOf/>
              <dgm:constrLst>
                <dgm:constr type="w" for="ch" forName="textA" refType="w"/>
                <dgm:constr type="h" for="ch" forName="textA" refType="h" fact="0.4"/>
                <dgm:constr type="t" for="ch" forName="textA"/>
                <dgm:constr type="l" for="ch" forName="textA"/>
                <dgm:constr type="h" for="ch" forName="circleA" refType="h" fact="0.1"/>
                <dgm:constr type="h" for="ch" forName="circleA" refType="w" op="lte"/>
                <dgm:constr type="w" for="ch" forName="circleA" refType="h" refFor="ch" refForName="circleA" op="equ"/>
                <dgm:constr type="ctrY" for="ch" forName="circleA" refType="h" fact="0.5"/>
                <dgm:constr type="ctrX" for="ch" forName="circleA" refType="w" refFor="ch" refForName="textA" fact="0.5"/>
                <dgm:constr type="w" for="ch" forName="spaceA" refType="w"/>
                <dgm:constr type="h" for="ch" forName="spaceA" refType="h" fact="0.4"/>
                <dgm:constr type="b" for="ch" forName="spaceA" refType="h"/>
                <dgm:constr type="l" for="ch" forName="spaceA"/>
              </dgm:constrLst>
              <dgm:ruleLst/>
              <dgm:layoutNode name="textA" styleLbl="revTx">
                <dgm:varLst>
                  <dgm:bulletEnabled val="1"/>
                </dgm:varLst>
                <dgm:alg type="tx">
                  <dgm:param type="txAnchorVert" val="b"/>
                  <dgm:param type="txAnchorVertCh" val="b"/>
                  <dgm:param type="txAnchorHorzCh" val="ctr"/>
                </dgm:alg>
                <dgm:shape xmlns:r="http://schemas.openxmlformats.org/officeDocument/2006/relationships" type="rect" r:blip="">
                  <dgm:adjLst/>
                </dgm:shape>
                <dgm:presOf axis="desOrSelf" ptType="node"/>
                <dgm:constrLst/>
                <dgm:ruleLst>
                  <dgm:rule type="primFontSz" val="5" fact="NaN" max="NaN"/>
                </dgm:ruleLst>
              </dgm:layoutNode>
              <dgm:layoutNode name="circleA">
                <dgm:alg type="sp"/>
                <dgm:shape xmlns:r="http://schemas.openxmlformats.org/officeDocument/2006/relationships" type="ellipse" r:blip="">
                  <dgm:adjLst/>
                </dgm:shape>
                <dgm:presOf/>
                <dgm:constrLst/>
                <dgm:ruleLst/>
              </dgm:layoutNode>
              <dgm:layoutNode name="spaceA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layoutNode>
          </dgm:if>
          <dgm:else name="Name13">
            <dgm:layoutNode name="compositeB">
              <dgm:alg type="composite"/>
              <dgm:shape xmlns:r="http://schemas.openxmlformats.org/officeDocument/2006/relationships" r:blip="">
                <dgm:adjLst/>
              </dgm:shape>
              <dgm:presOf/>
              <dgm:constrLst>
                <dgm:constr type="w" for="ch" forName="textB" refType="w"/>
                <dgm:constr type="h" for="ch" forName="textB" refType="h" fact="0.4"/>
                <dgm:constr type="b" for="ch" forName="textB" refType="h"/>
                <dgm:constr type="l" for="ch" forName="textB"/>
                <dgm:constr type="h" for="ch" forName="circleB" refType="h" fact="0.1"/>
                <dgm:constr type="w" for="ch" forName="circleB" refType="h" refFor="ch" refForName="circleB" op="equ"/>
                <dgm:constr type="h" for="ch" forName="circleB" refType="w" op="lte"/>
                <dgm:constr type="ctrY" for="ch" forName="circleB" refType="h" fact="0.5"/>
                <dgm:constr type="ctrX" for="ch" forName="circleB" refType="w" refFor="ch" refForName="textB" fact="0.5"/>
                <dgm:constr type="w" for="ch" forName="spaceB" refType="w"/>
                <dgm:constr type="h" for="ch" forName="spaceB" refType="h" fact="0.4"/>
                <dgm:constr type="t" for="ch" forName="spaceB"/>
                <dgm:constr type="l" for="ch" forName="spaceB"/>
              </dgm:constrLst>
              <dgm:ruleLst/>
              <dgm:layoutNode name="textB" styleLbl="revTx">
                <dgm:varLst>
                  <dgm:bulletEnabled val="1"/>
                </dgm:varLst>
                <dgm:alg type="tx">
                  <dgm:param type="txAnchorVert" val="t"/>
                  <dgm:param type="txAnchorVertCh" val="t"/>
                  <dgm:param type="txAnchorHorzCh" val="ctr"/>
                </dgm:alg>
                <dgm:shape xmlns:r="http://schemas.openxmlformats.org/officeDocument/2006/relationships" type="rect" r:blip="">
                  <dgm:adjLst/>
                </dgm:shape>
                <dgm:presOf axis="desOrSelf" ptType="node"/>
                <dgm:constrLst/>
                <dgm:ruleLst>
                  <dgm:rule type="primFontSz" val="5" fact="NaN" max="NaN"/>
                </dgm:ruleLst>
              </dgm:layoutNode>
              <dgm:layoutNode name="circleB">
                <dgm:alg type="sp"/>
                <dgm:shape xmlns:r="http://schemas.openxmlformats.org/officeDocument/2006/relationships" type="ellipse" r:blip="">
                  <dgm:adjLst/>
                </dgm:shape>
                <dgm:presOf/>
                <dgm:constrLst/>
                <dgm:ruleLst/>
              </dgm:layoutNode>
              <dgm:layoutNode name="spaceB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layoutNode>
          </dgm:else>
        </dgm:choose>
        <dgm:forEach name="Name14" axis="followSib" ptType="sibTrans" cnt="1">
          <dgm:layoutNode name="space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4">
  <dgm:title val=""/>
  <dgm:desc val=""/>
  <dgm:catLst>
    <dgm:cat type="3D" pri="11400"/>
  </dgm:catLst>
  <dgm:scene3d>
    <a:camera prst="orthographicFront"/>
    <a:lightRig rig="threePt" dir="t"/>
  </dgm:scene3d>
  <dgm:styleLbl name="node0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chilly" dir="t"/>
    </dgm:scene3d>
    <dgm:sp3d z="12700" extrusionH="12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ImgPlace1">
    <dgm:scene3d>
      <a:camera prst="orthographicFront"/>
      <a:lightRig rig="chilly" dir="t"/>
    </dgm:scene3d>
    <dgm:sp3d z="-257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chilly" dir="t"/>
    </dgm:scene3d>
    <dgm:sp3d z="-700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chilly" dir="t"/>
    </dgm:scene3d>
    <dgm:sp3d z="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chilly" dir="t"/>
    </dgm:scene3d>
    <dgm:sp3d z="-25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chilly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chilly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chilly" dir="t"/>
    </dgm:scene3d>
    <dgm:sp3d z="1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/>
      <a:lightRig rig="chilly" dir="t"/>
    </dgm:scene3d>
    <dgm:sp3d z="1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chilly" dir="t"/>
    </dgm:scene3d>
    <dgm:sp3d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chilly" dir="t"/>
    </dgm:scene3d>
    <dgm:sp3d prstMaterial="dkEdge">
      <a:bevelT w="127000" h="254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chilly" dir="t"/>
    </dgm:scene3d>
    <dgm:sp3d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chilly" dir="t"/>
    </dgm:scene3d>
    <dgm:sp3d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chilly" dir="t"/>
    </dgm:scene3d>
    <dgm:sp3d z="-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chilly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chilly" dir="t"/>
    </dgm:scene3d>
    <dgm:sp3d z="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aşlık Slaydı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Title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962399" y="1964267"/>
            <a:ext cx="7197726" cy="2421464"/>
          </a:xfrm>
        </p:spPr>
        <p:txBody>
          <a:bodyPr anchor="b">
            <a:normAutofit/>
          </a:bodyPr>
          <a:lstStyle>
            <a:lvl1pPr algn="r">
              <a:defRPr sz="4800">
                <a:effectLst/>
              </a:defRPr>
            </a:lvl1pPr>
          </a:lstStyle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962399" y="4385732"/>
            <a:ext cx="7197726" cy="1405467"/>
          </a:xfrm>
        </p:spPr>
        <p:txBody>
          <a:bodyPr anchor="t">
            <a:normAutofit/>
          </a:bodyPr>
          <a:lstStyle>
            <a:lvl1pPr marL="0" indent="0" algn="r">
              <a:buNone/>
              <a:defRPr sz="1800" cap="all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tr-TR"/>
              <a:t>Asıl alt başlık stilini düzenlemek için tıklayın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32558" y="5870575"/>
            <a:ext cx="1600200" cy="377825"/>
          </a:xfrm>
        </p:spPr>
        <p:txBody>
          <a:bodyPr/>
          <a:lstStyle/>
          <a:p>
            <a:fld id="{B61BEF0D-F0BB-DE4B-95CE-6DB70DBA9567}" type="datetimeFigureOut">
              <a:rPr lang="en-US" dirty="0"/>
              <a:pPr/>
              <a:t>4/18/2022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962399" y="5870575"/>
            <a:ext cx="4893958" cy="3778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608958" y="5870575"/>
            <a:ext cx="551167" cy="3778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aşlık ve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4/18/2022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Bölüm Üst Bilgis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308581"/>
            <a:ext cx="10131427" cy="1468800"/>
          </a:xfrm>
        </p:spPr>
        <p:txBody>
          <a:bodyPr anchor="b"/>
          <a:lstStyle>
            <a:lvl1pPr algn="l">
              <a:defRPr sz="4000" b="0" cap="all"/>
            </a:lvl1pPr>
          </a:lstStyle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7381"/>
            <a:ext cx="1013142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 cap="all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4/18/2022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İki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2" y="2142067"/>
            <a:ext cx="4995334" cy="3649134"/>
          </a:xfrm>
        </p:spPr>
        <p:txBody>
          <a:bodyPr>
            <a:normAutofit/>
          </a:bodyPr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21895" y="2142067"/>
            <a:ext cx="4995332" cy="3649133"/>
          </a:xfrm>
        </p:spPr>
        <p:txBody>
          <a:bodyPr>
            <a:normAutofit/>
          </a:bodyPr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4/18/2022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Karşılaştır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3670" y="2218267"/>
            <a:ext cx="470905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1" y="2870201"/>
            <a:ext cx="4996923" cy="2920998"/>
          </a:xfrm>
        </p:spPr>
        <p:txBody>
          <a:bodyPr anchor="t">
            <a:normAutofit/>
          </a:bodyPr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96003" y="2226734"/>
            <a:ext cx="4722813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23483" y="2870201"/>
            <a:ext cx="4995334" cy="2920998"/>
          </a:xfrm>
        </p:spPr>
        <p:txBody>
          <a:bodyPr anchor="t">
            <a:normAutofit/>
          </a:bodyPr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4/18/2022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Yalnızca Başlı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4/18/2022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o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4/18/2022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Başlıklı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2074333"/>
            <a:ext cx="3680885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48201" y="609601"/>
            <a:ext cx="6169026" cy="5181600"/>
          </a:xfrm>
        </p:spPr>
        <p:txBody>
          <a:bodyPr anchor="ctr">
            <a:normAutofit/>
          </a:bodyPr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445933"/>
            <a:ext cx="3680885" cy="1828800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4/18/2022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aşlıklı Resi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600200"/>
            <a:ext cx="6164653" cy="13716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36253" y="914400"/>
            <a:ext cx="3280974" cy="4572000"/>
          </a:xfrm>
          <a:prstGeom prst="roundRect">
            <a:avLst>
              <a:gd name="adj" fmla="val 42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tr-TR"/>
              <a:t>Resim eklemek için simgeye tıklayın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2971800"/>
            <a:ext cx="6164653" cy="1828800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4/18/2022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Yazılı Panoramik Resi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4732865"/>
            <a:ext cx="1013142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371600" y="932112"/>
            <a:ext cx="8759827" cy="3164976"/>
          </a:xfrm>
          <a:prstGeom prst="roundRect">
            <a:avLst>
              <a:gd name="adj" fmla="val 43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tr-TR"/>
              <a:t>Resim eklemek için simgeye tıklayın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299603"/>
            <a:ext cx="10131427" cy="49371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4/18/2022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aşlık ve Resim Yazıs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3124199"/>
          </a:xfrm>
        </p:spPr>
        <p:txBody>
          <a:bodyPr anchor="ctr">
            <a:normAutofit/>
          </a:bodyPr>
          <a:lstStyle>
            <a:lvl1pPr algn="l">
              <a:defRPr sz="3200" b="0" cap="none"/>
            </a:lvl1pPr>
          </a:lstStyle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4/18/2022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Resim Yazılı Alınt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097875" y="3352800"/>
            <a:ext cx="9339184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7465" y="4343400"/>
            <a:ext cx="10152367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4/18/2022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İsim Kart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2" y="3308581"/>
            <a:ext cx="10131425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4777381"/>
            <a:ext cx="10131426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4/18/2022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lıntı İsim Kart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0" y="3886200"/>
            <a:ext cx="10135436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tr-TR"/>
              <a:t>Asıl metin stillerini düzenlemek için tıklayın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5200"/>
            <a:ext cx="10135436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4/18/2022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oğru veya Yanlı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1" y="3505200"/>
            <a:ext cx="10131428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tr-TR"/>
              <a:t>Asıl metin stillerini düzenlemek için tıklayın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4/18/2022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Başlık ve Dikey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4/18/2022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</p:spPr>
        <p:txBody>
          <a:bodyPr/>
          <a:lstStyle/>
          <a:p>
            <a:r>
              <a:rPr lang="tr-TR"/>
              <a:t>Asıl başlık stilini düzenlemek için tıklayın</a:t>
            </a:r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Dikey Başlık ve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8675" y="609599"/>
            <a:ext cx="2158552" cy="5181601"/>
          </a:xfrm>
        </p:spPr>
        <p:txBody>
          <a:bodyPr vert="eaVert"/>
          <a:lstStyle/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7832116" cy="5181600"/>
          </a:xfrm>
        </p:spPr>
        <p:txBody>
          <a:bodyPr vert="eaVert" anchor="t"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4/18/2022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2142067"/>
            <a:ext cx="10131425" cy="36491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B61BEF0D-F0BB-DE4B-95CE-6DB70DBA9567}" type="datetimeFigureOut">
              <a:rPr lang="en-US" dirty="0"/>
              <a:pPr/>
              <a:t>4/18/2022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0" r:id="rId9"/>
    <p:sldLayoutId id="2147483657" r:id="rId10"/>
    <p:sldLayoutId id="2147483663" r:id="rId11"/>
    <p:sldLayoutId id="2147483664" r:id="rId12"/>
    <p:sldLayoutId id="2147483665" r:id="rId13"/>
    <p:sldLayoutId id="2147483668" r:id="rId14"/>
    <p:sldLayoutId id="2147483667" r:id="rId15"/>
    <p:sldLayoutId id="2147483658" r:id="rId16"/>
    <p:sldLayoutId id="2147483659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00" name="Picture 4" descr="Engaging with Technology - GlobalFocus">
            <a:extLst>
              <a:ext uri="{FF2B5EF4-FFF2-40B4-BE49-F238E27FC236}">
                <a16:creationId xmlns:a16="http://schemas.microsoft.com/office/drawing/2014/main" id="{EA711244-EF9A-41EE-8BE9-4EAFB8CABD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672662" y="-379971"/>
            <a:ext cx="12864662" cy="83490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Başlık 1">
            <a:extLst>
              <a:ext uri="{FF2B5EF4-FFF2-40B4-BE49-F238E27FC236}">
                <a16:creationId xmlns:a16="http://schemas.microsoft.com/office/drawing/2014/main" id="{3CB1ED4D-CE73-4DC0-83AF-430931897A5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497136" y="124957"/>
            <a:ext cx="7197726" cy="2421464"/>
          </a:xfrm>
        </p:spPr>
        <p:txBody>
          <a:bodyPr anchor="t"/>
          <a:lstStyle/>
          <a:p>
            <a:pPr algn="ctr"/>
            <a:r>
              <a:rPr lang="tr-TR" b="1" dirty="0" err="1"/>
              <a:t>artIRILMIŞ</a:t>
            </a:r>
            <a:r>
              <a:rPr lang="tr-TR" b="1" dirty="0"/>
              <a:t> VE SANAL GERÇEKLİK</a:t>
            </a:r>
          </a:p>
        </p:txBody>
      </p:sp>
    </p:spTree>
    <p:extLst>
      <p:ext uri="{BB962C8B-B14F-4D97-AF65-F5344CB8AC3E}">
        <p14:creationId xmlns:p14="http://schemas.microsoft.com/office/powerpoint/2010/main" val="40396935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İçerik Yer Tutucusu 4">
            <a:extLst>
              <a:ext uri="{FF2B5EF4-FFF2-40B4-BE49-F238E27FC236}">
                <a16:creationId xmlns:a16="http://schemas.microsoft.com/office/drawing/2014/main" id="{E8856166-2A48-4DA2-AFC4-FD506CFE6F9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24725" y="0"/>
            <a:ext cx="10342549" cy="6858000"/>
          </a:xfrm>
        </p:spPr>
      </p:pic>
    </p:spTree>
    <p:extLst>
      <p:ext uri="{BB962C8B-B14F-4D97-AF65-F5344CB8AC3E}">
        <p14:creationId xmlns:p14="http://schemas.microsoft.com/office/powerpoint/2010/main" val="39894101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900">
        <p14:glitter pattern="hexagon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A42B7112-B8FE-4DB8-A78F-C33ED6979F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b="1" dirty="0"/>
              <a:t>İlerleyiş şeması</a:t>
            </a:r>
          </a:p>
        </p:txBody>
      </p:sp>
      <p:graphicFrame>
        <p:nvGraphicFramePr>
          <p:cNvPr id="4" name="İçerik Yer Tutucusu 3">
            <a:extLst>
              <a:ext uri="{FF2B5EF4-FFF2-40B4-BE49-F238E27FC236}">
                <a16:creationId xmlns:a16="http://schemas.microsoft.com/office/drawing/2014/main" id="{43B1C8C5-7545-437D-9BAB-282914F62CD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9481767"/>
              </p:ext>
            </p:extLst>
          </p:nvPr>
        </p:nvGraphicFramePr>
        <p:xfrm>
          <a:off x="685801" y="2142067"/>
          <a:ext cx="10131425" cy="364913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71700405"/>
      </p:ext>
    </p:extLst>
  </p:cSld>
  <p:clrMapOvr>
    <a:masterClrMapping/>
  </p:clrMapOvr>
  <p:transition spd="slow">
    <p:cover dir="r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30FEF5CF-1F2C-4832-B2E5-A92CB7A301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b="1" dirty="0"/>
              <a:t>Gerçeklik uygulamaları</a:t>
            </a:r>
          </a:p>
        </p:txBody>
      </p:sp>
      <p:pic>
        <p:nvPicPr>
          <p:cNvPr id="5" name="İçerik Yer Tutucusu 4">
            <a:extLst>
              <a:ext uri="{FF2B5EF4-FFF2-40B4-BE49-F238E27FC236}">
                <a16:creationId xmlns:a16="http://schemas.microsoft.com/office/drawing/2014/main" id="{6EF1E963-F73F-4787-BC3B-A9F1D6A731AC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685801" y="2340270"/>
            <a:ext cx="5410199" cy="2574734"/>
          </a:xfrm>
        </p:spPr>
      </p:pic>
      <p:sp>
        <p:nvSpPr>
          <p:cNvPr id="6" name="İçerik Yer Tutucusu 5">
            <a:extLst>
              <a:ext uri="{FF2B5EF4-FFF2-40B4-BE49-F238E27FC236}">
                <a16:creationId xmlns:a16="http://schemas.microsoft.com/office/drawing/2014/main" id="{B907E7FD-1A6E-4BF6-B5F9-CCC8BE7611F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11088" y="2340270"/>
            <a:ext cx="5533988" cy="2574734"/>
          </a:xfrm>
        </p:spPr>
        <p:txBody>
          <a:bodyPr anchor="t">
            <a:normAutofit lnSpcReduction="10000"/>
          </a:bodyPr>
          <a:lstStyle/>
          <a:p>
            <a:r>
              <a:rPr lang="tr-TR" sz="2000" dirty="0"/>
              <a:t>Gerçeklik Uygulamaları yanda verilen tabloda da görüldüğü üzere «Artırılmış» ve «Sanal» Gerçeklik olarak ikiye ayrılmaktadır.</a:t>
            </a:r>
          </a:p>
          <a:p>
            <a:endParaRPr lang="tr-TR" sz="2000" dirty="0"/>
          </a:p>
          <a:p>
            <a:r>
              <a:rPr lang="tr-TR" sz="2000" dirty="0"/>
              <a:t>Artırılmış ve Sanal Gerçeklik uygulamaları üzerinde çalışan başlıca şirketler şunlardır:   </a:t>
            </a:r>
            <a:r>
              <a:rPr lang="tr-TR" sz="2000" dirty="0" err="1"/>
              <a:t>Snap</a:t>
            </a:r>
            <a:r>
              <a:rPr lang="tr-TR" sz="2000" dirty="0"/>
              <a:t>, Microsoft, </a:t>
            </a:r>
            <a:r>
              <a:rPr lang="tr-TR" sz="2000" dirty="0" err="1"/>
              <a:t>Warby</a:t>
            </a:r>
            <a:r>
              <a:rPr lang="tr-TR" sz="2000" dirty="0"/>
              <a:t> </a:t>
            </a:r>
            <a:r>
              <a:rPr lang="tr-TR" sz="2000" dirty="0" err="1"/>
              <a:t>Parker</a:t>
            </a:r>
            <a:r>
              <a:rPr lang="tr-TR" sz="2000" dirty="0"/>
              <a:t>.</a:t>
            </a:r>
          </a:p>
          <a:p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11831929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AC2041E8-7500-4EBB-8587-77CD76776B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b="1" dirty="0"/>
              <a:t>Artırılmış gerçeklik [AR]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FA2DADCA-5CF8-4306-BB01-D447EBFB9943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tr-TR" sz="2400" dirty="0" err="1"/>
              <a:t>Milgram</a:t>
            </a:r>
            <a:r>
              <a:rPr lang="tr-TR" sz="2400" dirty="0"/>
              <a:t> ve </a:t>
            </a:r>
            <a:r>
              <a:rPr lang="tr-TR" sz="2400" dirty="0" err="1"/>
              <a:t>Kishino</a:t>
            </a:r>
            <a:r>
              <a:rPr lang="tr-TR" sz="2400" dirty="0"/>
              <a:t> (1994) artırılmış gerçekliği «Gerçek dünya nesneleri yerine dijital ortam ürünlerinin kullanıldığı gerçeklik ortamıdır.» şeklinde tanımlamaktadır.</a:t>
            </a:r>
          </a:p>
          <a:p>
            <a:r>
              <a:rPr lang="tr-TR" sz="2400" dirty="0"/>
              <a:t>Artırılmış gerçeklik «Optik Temelli Gerçeklik» ve «Video Temelli Gerçeklik» olarak ikiye ayrılmaktadır.</a:t>
            </a:r>
          </a:p>
          <a:p>
            <a:endParaRPr lang="tr-TR" dirty="0"/>
          </a:p>
        </p:txBody>
      </p:sp>
      <p:pic>
        <p:nvPicPr>
          <p:cNvPr id="1026" name="Picture 2" descr="Artırılmış Gerçeklik Hizmetleri | AR | Smarttek Bilişim">
            <a:extLst>
              <a:ext uri="{FF2B5EF4-FFF2-40B4-BE49-F238E27FC236}">
                <a16:creationId xmlns:a16="http://schemas.microsoft.com/office/drawing/2014/main" id="{BCA5FDBB-3CED-4231-A493-071A5273A995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877086" y="2266839"/>
            <a:ext cx="5629112" cy="31620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73906714"/>
      </p:ext>
    </p:extLst>
  </p:cSld>
  <p:clrMapOvr>
    <a:masterClrMapping/>
  </p:clrMapOvr>
  <p:transition spd="slow">
    <p:wip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60E1C8D8-7E73-4B2D-A401-23A6E3DE7E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b="1" dirty="0"/>
              <a:t>1 – </a:t>
            </a:r>
            <a:r>
              <a:rPr lang="tr-TR" b="1" dirty="0" err="1"/>
              <a:t>OptiK</a:t>
            </a:r>
            <a:r>
              <a:rPr lang="tr-TR" b="1" dirty="0"/>
              <a:t> TEMELLİ GERÇEKLİK</a:t>
            </a:r>
          </a:p>
        </p:txBody>
      </p:sp>
      <p:sp>
        <p:nvSpPr>
          <p:cNvPr id="4" name="İçerik Yer Tutucusu 3">
            <a:extLst>
              <a:ext uri="{FF2B5EF4-FFF2-40B4-BE49-F238E27FC236}">
                <a16:creationId xmlns:a16="http://schemas.microsoft.com/office/drawing/2014/main" id="{9C7603D5-4AE1-451E-B448-1D1F5769288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821894" y="2351675"/>
            <a:ext cx="4995332" cy="3229388"/>
          </a:xfrm>
        </p:spPr>
        <p:txBody>
          <a:bodyPr anchor="t">
            <a:normAutofit/>
          </a:bodyPr>
          <a:lstStyle/>
          <a:p>
            <a:r>
              <a:rPr lang="tr-TR" sz="2400" dirty="0"/>
              <a:t>Optik temelli sistemler gözlük benzeri cihazlar ile sanal veya gerçek dünya bileşenlerinin kullanıcılara sunulduğu sistemlerdir.</a:t>
            </a:r>
          </a:p>
          <a:p>
            <a:r>
              <a:rPr lang="tr-TR" sz="2400" dirty="0"/>
              <a:t>Optik temelli gerçeklikte kullanılan araçlara Sony </a:t>
            </a:r>
            <a:r>
              <a:rPr lang="tr-TR" sz="2400" dirty="0" err="1"/>
              <a:t>SmartEyeglass</a:t>
            </a:r>
            <a:r>
              <a:rPr lang="tr-TR" sz="2400" dirty="0"/>
              <a:t>, </a:t>
            </a:r>
            <a:r>
              <a:rPr lang="tr-TR" sz="2400" dirty="0" err="1"/>
              <a:t>Epson</a:t>
            </a:r>
            <a:r>
              <a:rPr lang="tr-TR" sz="2400" dirty="0"/>
              <a:t> </a:t>
            </a:r>
            <a:r>
              <a:rPr lang="tr-TR" sz="2400" dirty="0" err="1"/>
              <a:t>Moverio</a:t>
            </a:r>
            <a:r>
              <a:rPr lang="tr-TR" sz="2400" dirty="0"/>
              <a:t> BT-200 ve Apple </a:t>
            </a:r>
            <a:r>
              <a:rPr lang="tr-TR" sz="2400" dirty="0" err="1"/>
              <a:t>iGlass</a:t>
            </a:r>
            <a:r>
              <a:rPr lang="tr-TR" sz="2400" dirty="0"/>
              <a:t> örnek gösterilebilir.</a:t>
            </a:r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6EEB89BD-0F56-481A-9F03-A780A98A77EF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" y="2561283"/>
            <a:ext cx="4995863" cy="28101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353250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81836BCE-B629-42BE-AF25-BBE6ECC852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b="1" dirty="0"/>
              <a:t>2 – video temelli gerçeklik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074D928B-3466-43D4-A6DD-EC14A6007D18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 anchor="t"/>
          <a:lstStyle/>
          <a:p>
            <a:r>
              <a:rPr lang="tr-TR" dirty="0"/>
              <a:t>Video temelli sistemler, sanal ortamın bilgisayar ya da mobil cihazlar ile aktarıldığı sistemlerdir.</a:t>
            </a:r>
          </a:p>
          <a:p>
            <a:r>
              <a:rPr lang="tr-TR" dirty="0"/>
              <a:t>Video tabanlı Artırılmış Gerçeklik sistemlerinde geliştirilen dijital veriler ayrı bir cihaz üzerinde görüntülenmektedir.</a:t>
            </a:r>
          </a:p>
          <a:p>
            <a:r>
              <a:rPr lang="tr-TR" dirty="0"/>
              <a:t>Bu gerçeklik sistemlerinin kullanıldığı alanlara şunlar örnek olarak gösterilebilir:</a:t>
            </a:r>
          </a:p>
          <a:p>
            <a:pPr marL="0" indent="0">
              <a:buNone/>
            </a:pPr>
            <a:r>
              <a:rPr lang="tr-TR" dirty="0"/>
              <a:t>Bakım ve Montaj İşlemleri</a:t>
            </a:r>
          </a:p>
          <a:p>
            <a:pPr marL="0" indent="0">
              <a:buNone/>
            </a:pPr>
            <a:r>
              <a:rPr lang="tr-TR" dirty="0"/>
              <a:t>Lojistik Uygulamaları</a:t>
            </a:r>
          </a:p>
          <a:p>
            <a:pPr marL="0" indent="0">
              <a:buNone/>
            </a:pPr>
            <a:r>
              <a:rPr lang="tr-TR" dirty="0"/>
              <a:t>Etkileşim ve Eğitim</a:t>
            </a:r>
          </a:p>
          <a:p>
            <a:pPr marL="0" indent="0">
              <a:buNone/>
            </a:pPr>
            <a:endParaRPr lang="tr-TR" dirty="0"/>
          </a:p>
          <a:p>
            <a:endParaRPr lang="tr-TR" dirty="0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08004D7C-3462-4571-80F4-007908C476E3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18635" y="2435354"/>
            <a:ext cx="5787563" cy="30625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973927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867F77A2-25D7-4CC1-A195-76040E8EF9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b="1" dirty="0"/>
              <a:t>Sanal gerçeklik [</a:t>
            </a:r>
            <a:r>
              <a:rPr lang="tr-TR" b="1" dirty="0" err="1"/>
              <a:t>vr</a:t>
            </a:r>
            <a:r>
              <a:rPr lang="tr-TR" b="1" dirty="0"/>
              <a:t>]</a:t>
            </a:r>
          </a:p>
        </p:txBody>
      </p:sp>
      <p:sp>
        <p:nvSpPr>
          <p:cNvPr id="4" name="İçerik Yer Tutucusu 3">
            <a:extLst>
              <a:ext uri="{FF2B5EF4-FFF2-40B4-BE49-F238E27FC236}">
                <a16:creationId xmlns:a16="http://schemas.microsoft.com/office/drawing/2014/main" id="{5E884862-EBE6-4041-B4F0-FD4CDAF4E66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821894" y="2349102"/>
            <a:ext cx="4995332" cy="3235062"/>
          </a:xfrm>
        </p:spPr>
        <p:txBody>
          <a:bodyPr anchor="t"/>
          <a:lstStyle/>
          <a:p>
            <a:r>
              <a:rPr lang="tr-TR" dirty="0"/>
              <a:t>Sanal gerçeklik «Virtual </a:t>
            </a:r>
            <a:r>
              <a:rPr lang="tr-TR" dirty="0" err="1"/>
              <a:t>Reality</a:t>
            </a:r>
            <a:r>
              <a:rPr lang="tr-TR" dirty="0"/>
              <a:t>» kişiye bilgisayar ortamında yaşanan olayların günlük hayatta, olayın adeta içindeymiş gibi yaşaması imkânını sağlayan ortamdır.</a:t>
            </a:r>
          </a:p>
          <a:p>
            <a:r>
              <a:rPr lang="tr-TR" dirty="0"/>
              <a:t>Sanal gerçeklik gözlüklerine şunlar örnek olarak gösterilebilir:</a:t>
            </a:r>
          </a:p>
          <a:p>
            <a:pPr marL="0" indent="0">
              <a:buNone/>
            </a:pPr>
            <a:r>
              <a:rPr lang="tr-TR" dirty="0" err="1"/>
              <a:t>Oculus</a:t>
            </a:r>
            <a:endParaRPr lang="tr-TR" dirty="0"/>
          </a:p>
          <a:p>
            <a:pPr marL="0" indent="0">
              <a:buNone/>
            </a:pPr>
            <a:r>
              <a:rPr lang="tr-TR" dirty="0"/>
              <a:t>HTC </a:t>
            </a:r>
            <a:r>
              <a:rPr lang="tr-TR" dirty="0" err="1"/>
              <a:t>Vive</a:t>
            </a:r>
            <a:endParaRPr lang="tr-TR" dirty="0"/>
          </a:p>
          <a:p>
            <a:pPr marL="0" indent="0">
              <a:buNone/>
            </a:pPr>
            <a:r>
              <a:rPr lang="tr-TR" dirty="0" err="1"/>
              <a:t>PlayStationVR</a:t>
            </a:r>
            <a:endParaRPr lang="tr-TR" dirty="0"/>
          </a:p>
        </p:txBody>
      </p:sp>
      <p:pic>
        <p:nvPicPr>
          <p:cNvPr id="3076" name="Picture 4" descr="Sanal gerçeklik gözlüğü hayatına mal oldu - Teknoloji Haberleri">
            <a:extLst>
              <a:ext uri="{FF2B5EF4-FFF2-40B4-BE49-F238E27FC236}">
                <a16:creationId xmlns:a16="http://schemas.microsoft.com/office/drawing/2014/main" id="{0BFB1CC2-2B0B-452D-AAFB-F3C36392545C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1149" y="2556137"/>
            <a:ext cx="5330364" cy="28209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852718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window dir="ver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7EF43768-F69A-4850-BADA-6FDAA55EDB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tr-TR" b="1" dirty="0"/>
              <a:t>Artırılmış ve sanal gerçeklik </a:t>
            </a:r>
            <a:r>
              <a:rPr lang="tr-TR" b="1" dirty="0" err="1"/>
              <a:t>kARŞILAŞTIRMASI</a:t>
            </a:r>
            <a:endParaRPr lang="tr-TR" b="1" dirty="0"/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63465760-D430-4E93-BBA3-3715A28C879F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tr-TR" b="1" dirty="0"/>
              <a:t>ARTIRILMIŞ GERÇEKLİK</a:t>
            </a:r>
          </a:p>
          <a:p>
            <a:pPr algn="ctr"/>
            <a:r>
              <a:rPr lang="tr-TR" dirty="0"/>
              <a:t>AR, halihazırda gördüklerinizin üzerine bilgi yansıtarak gerçeğe katkıda bulunur. </a:t>
            </a:r>
          </a:p>
          <a:p>
            <a:pPr algn="ctr"/>
            <a:r>
              <a:rPr lang="tr-TR" dirty="0"/>
              <a:t>Açıklamak gerekirse, Artırılmış Gerçeklik var olan dünyanın üzerine bilgiler yansıtarak bunları geliştirme amacı güder.</a:t>
            </a:r>
          </a:p>
          <a:p>
            <a:pPr algn="ctr"/>
            <a:r>
              <a:rPr lang="tr-TR" dirty="0"/>
              <a:t>Artırılmış gerçeklik kullanım alanları:</a:t>
            </a:r>
          </a:p>
          <a:p>
            <a:pPr marL="0" indent="0" algn="ctr">
              <a:buNone/>
            </a:pPr>
            <a:r>
              <a:rPr lang="tr-TR" dirty="0"/>
              <a:t>Pazarlama, Sinema, Sanat ve Müzeler, Alışveriş, Turizm, Sağlık, Oyun ve video, Emlak</a:t>
            </a:r>
          </a:p>
        </p:txBody>
      </p:sp>
      <p:sp>
        <p:nvSpPr>
          <p:cNvPr id="4" name="İçerik Yer Tutucusu 3">
            <a:extLst>
              <a:ext uri="{FF2B5EF4-FFF2-40B4-BE49-F238E27FC236}">
                <a16:creationId xmlns:a16="http://schemas.microsoft.com/office/drawing/2014/main" id="{0820907A-0CAA-4760-B6F2-84C075A135AA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tr-TR" b="1" dirty="0"/>
              <a:t>SANAL GERÇEKLİK</a:t>
            </a:r>
          </a:p>
          <a:p>
            <a:pPr algn="ctr"/>
            <a:r>
              <a:rPr lang="tr-TR" dirty="0"/>
              <a:t>VR, gerçekliğin yerini alır ve sizi başka bir yere götürür.</a:t>
            </a:r>
          </a:p>
          <a:p>
            <a:pPr algn="ctr"/>
            <a:r>
              <a:rPr lang="tr-TR" dirty="0"/>
              <a:t>Sanal gerçeklik var olan dünyanın dışına çıkarak kendi dünyasını oluşturur ve sizi bambaşka bir yerdeymişsiniz hissiyatının içine sokar.</a:t>
            </a:r>
          </a:p>
          <a:p>
            <a:pPr algn="ctr"/>
            <a:r>
              <a:rPr lang="tr-TR" dirty="0"/>
              <a:t>Sanal gerçeklik kullanım alanları:</a:t>
            </a:r>
          </a:p>
          <a:p>
            <a:pPr marL="0" indent="0" algn="ctr">
              <a:buNone/>
            </a:pPr>
            <a:r>
              <a:rPr lang="tr-TR" dirty="0"/>
              <a:t>Eğitim, Endüstri, Sağlık, Seyahat, Oyun, Savunma, Sanayii, Kültür ve Turizm, Eğlence</a:t>
            </a:r>
          </a:p>
        </p:txBody>
      </p:sp>
    </p:spTree>
    <p:extLst>
      <p:ext uri="{BB962C8B-B14F-4D97-AF65-F5344CB8AC3E}">
        <p14:creationId xmlns:p14="http://schemas.microsoft.com/office/powerpoint/2010/main" val="39679036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E4968A5F-D277-4036-9C94-0A6DFF4BE8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b="1" dirty="0"/>
              <a:t>KAYNAKÇA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ADB279C4-0E86-4915-9C72-3CB981DB0E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1" y="2065867"/>
            <a:ext cx="10623330" cy="4182533"/>
          </a:xfrm>
        </p:spPr>
        <p:txBody>
          <a:bodyPr>
            <a:normAutofit lnSpcReduction="10000"/>
          </a:bodyPr>
          <a:lstStyle/>
          <a:p>
            <a:r>
              <a:rPr lang="tr-TR" dirty="0"/>
              <a:t>https://www.globalfocusmagazine.com/engaging-with-technology/</a:t>
            </a:r>
          </a:p>
          <a:p>
            <a:r>
              <a:rPr lang="tr-TR" dirty="0"/>
              <a:t>https://dergipark.org.tr/en/pub/gujsc/issue/49772/638527</a:t>
            </a:r>
          </a:p>
          <a:p>
            <a:r>
              <a:rPr lang="tr-TR" dirty="0"/>
              <a:t>https://www.smarttek.com.tr/artirilmis-gerceklik.html</a:t>
            </a:r>
          </a:p>
          <a:p>
            <a:r>
              <a:rPr lang="tr-TR" dirty="0"/>
              <a:t>https://www.simsoft.com.tr/p/29/sanal-arttirilmis-gerceklik</a:t>
            </a:r>
          </a:p>
          <a:p>
            <a:r>
              <a:rPr lang="tr-TR" dirty="0"/>
              <a:t>https://www.educationcyber.com/2020/02/16/artirilmis-gerceklik/</a:t>
            </a:r>
          </a:p>
          <a:p>
            <a:r>
              <a:rPr lang="tr-TR" dirty="0"/>
              <a:t>http://www.teknolo.com/10-artirilmis-gerceklik-gozlugu/</a:t>
            </a:r>
          </a:p>
          <a:p>
            <a:r>
              <a:rPr lang="tr-TR" dirty="0"/>
              <a:t>https://abmarketotomasyon.com/endustride-ar-arttirilmis-gerceklik-uygulamalari/</a:t>
            </a:r>
          </a:p>
          <a:p>
            <a:r>
              <a:rPr lang="tr-TR" dirty="0"/>
              <a:t>https://www.tiridi.com/sanal-gerceklik/sanal-gerceklik-gozlugu-nedir.htm</a:t>
            </a:r>
          </a:p>
          <a:p>
            <a:r>
              <a:rPr lang="tr-TR" dirty="0"/>
              <a:t>https://www.infinia.com.tr/blog/artrlms-gerceklik-ar-ile-sanal-gerceklik-vr-arasndaki-fark-nedir</a:t>
            </a:r>
          </a:p>
          <a:p>
            <a:r>
              <a:rPr lang="tr-TR" dirty="0"/>
              <a:t>https://www.kozmoslisesi.com/artirilmis-gerceklik-nedir-artirilmis-gerceklik-kullanim-alanlari/</a:t>
            </a:r>
          </a:p>
          <a:p>
            <a:r>
              <a:rPr lang="tr-TR" dirty="0"/>
              <a:t>https://codemodeon.com/tr/blog/sanal-gerceklik-nedir/</a:t>
            </a:r>
          </a:p>
        </p:txBody>
      </p:sp>
    </p:spTree>
    <p:extLst>
      <p:ext uri="{BB962C8B-B14F-4D97-AF65-F5344CB8AC3E}">
        <p14:creationId xmlns:p14="http://schemas.microsoft.com/office/powerpoint/2010/main" val="301094093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DC01835E-6B31-4E3F-AAAF-2D70819EBA1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 anchor="ctr"/>
          <a:lstStyle/>
          <a:p>
            <a:pPr algn="ctr"/>
            <a:r>
              <a:rPr lang="tr-TR" b="1" dirty="0"/>
              <a:t>BİZİ DİNLEDİĞİNİZ İÇİN TEŞEKKÜRLER</a:t>
            </a:r>
          </a:p>
        </p:txBody>
      </p:sp>
      <p:sp>
        <p:nvSpPr>
          <p:cNvPr id="6" name="Alt Başlık 5">
            <a:extLst>
              <a:ext uri="{FF2B5EF4-FFF2-40B4-BE49-F238E27FC236}">
                <a16:creationId xmlns:a16="http://schemas.microsoft.com/office/drawing/2014/main" id="{88004F04-DEEB-4D1E-A3E4-32FF4ABCB57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962399" y="4385732"/>
            <a:ext cx="7197726" cy="1867923"/>
          </a:xfrm>
        </p:spPr>
        <p:txBody>
          <a:bodyPr>
            <a:noAutofit/>
          </a:bodyPr>
          <a:lstStyle/>
          <a:p>
            <a:pPr algn="ctr"/>
            <a:r>
              <a:rPr lang="tr-TR" sz="2400" b="1" dirty="0"/>
              <a:t>Hazırlayanlar:</a:t>
            </a:r>
          </a:p>
          <a:p>
            <a:pPr algn="ctr"/>
            <a:r>
              <a:rPr lang="tr-TR" sz="2400" dirty="0"/>
              <a:t>İbrahim </a:t>
            </a:r>
            <a:r>
              <a:rPr lang="tr-TR" sz="2400" dirty="0" err="1"/>
              <a:t>öztepe</a:t>
            </a:r>
            <a:endParaRPr lang="tr-TR" sz="2400" dirty="0"/>
          </a:p>
          <a:p>
            <a:pPr algn="ctr"/>
            <a:r>
              <a:rPr lang="tr-TR" sz="2400" dirty="0"/>
              <a:t>Mustafa ali </a:t>
            </a:r>
            <a:r>
              <a:rPr lang="tr-TR" sz="2400" dirty="0" err="1"/>
              <a:t>büstan</a:t>
            </a:r>
            <a:endParaRPr lang="tr-TR" sz="2400" dirty="0"/>
          </a:p>
          <a:p>
            <a:pPr algn="ctr"/>
            <a:r>
              <a:rPr lang="tr-TR" sz="2400" dirty="0"/>
              <a:t>Gürbüz Yusuf </a:t>
            </a:r>
            <a:r>
              <a:rPr lang="tr-TR" sz="2400" dirty="0" err="1"/>
              <a:t>özorhan</a:t>
            </a:r>
            <a:endParaRPr lang="tr-TR" sz="2400" dirty="0"/>
          </a:p>
        </p:txBody>
      </p:sp>
    </p:spTree>
    <p:extLst>
      <p:ext uri="{BB962C8B-B14F-4D97-AF65-F5344CB8AC3E}">
        <p14:creationId xmlns:p14="http://schemas.microsoft.com/office/powerpoint/2010/main" val="21834508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Gökyüzü">
  <a:themeElements>
    <a:clrScheme name="Celestial">
      <a:dk1>
        <a:sysClr val="windowText" lastClr="000000"/>
      </a:dk1>
      <a:lt1>
        <a:sysClr val="window" lastClr="FFFFFF"/>
      </a:lt1>
      <a:dk2>
        <a:srgbClr val="18276C"/>
      </a:dk2>
      <a:lt2>
        <a:srgbClr val="EBEBEB"/>
      </a:lt2>
      <a:accent1>
        <a:srgbClr val="AC3EC1"/>
      </a:accent1>
      <a:accent2>
        <a:srgbClr val="477BD1"/>
      </a:accent2>
      <a:accent3>
        <a:srgbClr val="46B298"/>
      </a:accent3>
      <a:accent4>
        <a:srgbClr val="90BA4C"/>
      </a:accent4>
      <a:accent5>
        <a:srgbClr val="DD9D31"/>
      </a:accent5>
      <a:accent6>
        <a:srgbClr val="E25247"/>
      </a:accent6>
      <a:hlink>
        <a:srgbClr val="C573D2"/>
      </a:hlink>
      <a:folHlink>
        <a:srgbClr val="CCAEE8"/>
      </a:folHlink>
    </a:clrScheme>
    <a:fontScheme name="Celestial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elestial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lumMod val="110000"/>
              </a:schemeClr>
            </a:gs>
            <a:gs pos="100000">
              <a:schemeClr val="phClr">
                <a:tint val="82000"/>
                <a:alpha val="7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0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1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5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shade val="96000"/>
                <a:hueMod val="100000"/>
                <a:satMod val="180000"/>
                <a:lumMod val="110000"/>
              </a:schemeClr>
            </a:gs>
            <a:gs pos="100000">
              <a:schemeClr val="phClr">
                <a:shade val="96000"/>
                <a:satMod val="160000"/>
                <a:lumMod val="100000"/>
              </a:schemeClr>
            </a:gs>
          </a:gsLst>
          <a:lin ang="4740000" scaled="1"/>
        </a:gradFill>
        <a:blipFill>
          <a:blip xmlns:r="http://schemas.openxmlformats.org/officeDocument/2006/relationships" r:embed="rId1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elestial" id="{C4BB2A3D-0E93-4C5F-B0D2-9D3FCE089CC5}" vid="{42E5908D-19A2-46FD-89FA-638B126129E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TM03457452[[fn=Gökyüzü]]</Template>
  <TotalTime>163</TotalTime>
  <Words>527</Words>
  <Application>Microsoft Office PowerPoint</Application>
  <PresentationFormat>Geniş ekran</PresentationFormat>
  <Paragraphs>59</Paragraphs>
  <Slides>11</Slides>
  <Notes>0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3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11</vt:i4>
      </vt:variant>
    </vt:vector>
  </HeadingPairs>
  <TitlesOfParts>
    <vt:vector size="15" baseType="lpstr">
      <vt:lpstr>Arial</vt:lpstr>
      <vt:lpstr>Calibri</vt:lpstr>
      <vt:lpstr>Calibri Light</vt:lpstr>
      <vt:lpstr>Gökyüzü</vt:lpstr>
      <vt:lpstr>artIRILMIŞ VE SANAL GERÇEKLİK</vt:lpstr>
      <vt:lpstr>PowerPoint Sunusu</vt:lpstr>
      <vt:lpstr>İlerleyiş şeması</vt:lpstr>
      <vt:lpstr>Gerçeklik uygulamaları</vt:lpstr>
      <vt:lpstr>Artırılmış gerçeklik [AR]</vt:lpstr>
      <vt:lpstr>1 – OptiK TEMELLİ GERÇEKLİK</vt:lpstr>
      <vt:lpstr>2 – video temelli gerçeklik</vt:lpstr>
      <vt:lpstr>Sanal gerçeklik [vr]</vt:lpstr>
      <vt:lpstr>Artırılmış ve sanal gerçeklik kARŞILAŞTIRMASI</vt:lpstr>
      <vt:lpstr>KAYNAKÇA</vt:lpstr>
      <vt:lpstr>BİZİ DİNLEDİĞİNİZ İÇİN TEŞEKKÜRLER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Sunusu</dc:title>
  <dc:creator>İbrahim ÖZTEPE</dc:creator>
  <cp:lastModifiedBy>İbrahim ÖZTEPE</cp:lastModifiedBy>
  <cp:revision>30</cp:revision>
  <dcterms:created xsi:type="dcterms:W3CDTF">2022-04-16T13:38:36Z</dcterms:created>
  <dcterms:modified xsi:type="dcterms:W3CDTF">2022-04-18T01:57:40Z</dcterms:modified>
</cp:coreProperties>
</file>