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68" r:id="rId1"/>
  </p:sldMasterIdLst>
  <p:sldIdLst>
    <p:sldId id="256" r:id="rId2"/>
    <p:sldId id="257" r:id="rId3"/>
    <p:sldId id="258" r:id="rId4"/>
    <p:sldId id="260" r:id="rId5"/>
    <p:sldId id="261" r:id="rId6"/>
    <p:sldId id="262" r:id="rId7"/>
    <p:sldId id="259" r:id="rId8"/>
    <p:sldId id="266" r:id="rId9"/>
    <p:sldId id="263" r:id="rId10"/>
    <p:sldId id="264" r:id="rId11"/>
    <p:sldId id="265" r:id="rId12"/>
    <p:sldId id="268" r:id="rId13"/>
    <p:sldId id="267"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4" autoAdjust="0"/>
    <p:restoredTop sz="94660"/>
  </p:normalViewPr>
  <p:slideViewPr>
    <p:cSldViewPr snapToGrid="0">
      <p:cViewPr varScale="1">
        <p:scale>
          <a:sx n="91" d="100"/>
          <a:sy n="91" d="100"/>
        </p:scale>
        <p:origin x="5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C8081F5-EE35-4044-8CF0-5732E505F070}" type="doc">
      <dgm:prSet loTypeId="urn:microsoft.com/office/officeart/2005/8/layout/chevron1" loCatId="process" qsTypeId="urn:microsoft.com/office/officeart/2005/8/quickstyle/simple1" qsCatId="simple" csTypeId="urn:microsoft.com/office/officeart/2005/8/colors/accent1_2" csCatId="accent1" phldr="1"/>
      <dgm:spPr/>
    </dgm:pt>
    <dgm:pt modelId="{AACEB9D0-89D3-4B4C-8D4E-01EA0C5B6A28}">
      <dgm:prSet phldrT="[Metin]"/>
      <dgm:spPr/>
      <dgm:t>
        <a:bodyPr/>
        <a:lstStyle/>
        <a:p>
          <a:r>
            <a:rPr lang="tr-TR" dirty="0"/>
            <a:t>GİRİŞ</a:t>
          </a:r>
        </a:p>
      </dgm:t>
    </dgm:pt>
    <dgm:pt modelId="{36A4D744-3BC4-49BB-9D8C-5A4CE92E3BAE}" type="parTrans" cxnId="{BFC52FA3-8594-42A7-82F8-88234B42A39E}">
      <dgm:prSet/>
      <dgm:spPr/>
      <dgm:t>
        <a:bodyPr/>
        <a:lstStyle/>
        <a:p>
          <a:endParaRPr lang="tr-TR"/>
        </a:p>
      </dgm:t>
    </dgm:pt>
    <dgm:pt modelId="{9B5EAB71-12E0-4A90-A007-907410C96FFA}" type="sibTrans" cxnId="{BFC52FA3-8594-42A7-82F8-88234B42A39E}">
      <dgm:prSet/>
      <dgm:spPr/>
      <dgm:t>
        <a:bodyPr/>
        <a:lstStyle/>
        <a:p>
          <a:endParaRPr lang="tr-TR"/>
        </a:p>
      </dgm:t>
    </dgm:pt>
    <dgm:pt modelId="{2A91C67A-0D33-4E14-95D0-EE505107FA42}">
      <dgm:prSet phldrT="[Metin]"/>
      <dgm:spPr/>
      <dgm:t>
        <a:bodyPr/>
        <a:lstStyle/>
        <a:p>
          <a:r>
            <a:rPr lang="tr-TR" dirty="0"/>
            <a:t>ALLAH’IN DELİLLERİNE NEDEN İHTİYAÇ DUYARIZ?</a:t>
          </a:r>
        </a:p>
      </dgm:t>
    </dgm:pt>
    <dgm:pt modelId="{294A91D7-AE27-41A0-A133-6F7ACF68E2BF}" type="parTrans" cxnId="{242F421C-D30E-4247-A8CA-AD35E3C7811A}">
      <dgm:prSet/>
      <dgm:spPr/>
      <dgm:t>
        <a:bodyPr/>
        <a:lstStyle/>
        <a:p>
          <a:endParaRPr lang="tr-TR"/>
        </a:p>
      </dgm:t>
    </dgm:pt>
    <dgm:pt modelId="{9CE7088D-53CC-4D57-9370-32723905D8DD}" type="sibTrans" cxnId="{242F421C-D30E-4247-A8CA-AD35E3C7811A}">
      <dgm:prSet/>
      <dgm:spPr/>
      <dgm:t>
        <a:bodyPr/>
        <a:lstStyle/>
        <a:p>
          <a:endParaRPr lang="tr-TR"/>
        </a:p>
      </dgm:t>
    </dgm:pt>
    <dgm:pt modelId="{494F3E69-8367-4C1B-B4B5-D23513ED1B9D}">
      <dgm:prSet phldrT="[Metin]"/>
      <dgm:spPr/>
      <dgm:t>
        <a:bodyPr/>
        <a:lstStyle/>
        <a:p>
          <a:r>
            <a:rPr lang="tr-TR" dirty="0"/>
            <a:t>ALLAH’IN DELİLLERİNE YÖNELİK AYETLER</a:t>
          </a:r>
        </a:p>
      </dgm:t>
    </dgm:pt>
    <dgm:pt modelId="{B68E992A-CDE2-461F-923A-F88BA1F11E39}" type="parTrans" cxnId="{E9DF76E3-EF55-4D89-B557-1905D4046DDA}">
      <dgm:prSet/>
      <dgm:spPr/>
      <dgm:t>
        <a:bodyPr/>
        <a:lstStyle/>
        <a:p>
          <a:endParaRPr lang="tr-TR"/>
        </a:p>
      </dgm:t>
    </dgm:pt>
    <dgm:pt modelId="{184C3EB1-942A-458C-8BFF-17130B3B3712}" type="sibTrans" cxnId="{E9DF76E3-EF55-4D89-B557-1905D4046DDA}">
      <dgm:prSet/>
      <dgm:spPr/>
      <dgm:t>
        <a:bodyPr/>
        <a:lstStyle/>
        <a:p>
          <a:endParaRPr lang="tr-TR"/>
        </a:p>
      </dgm:t>
    </dgm:pt>
    <dgm:pt modelId="{50915D73-A2B3-4F06-B41D-50494B7A0040}">
      <dgm:prSet phldrT="[Metin]"/>
      <dgm:spPr/>
      <dgm:t>
        <a:bodyPr/>
        <a:lstStyle/>
        <a:p>
          <a:r>
            <a:rPr lang="tr-TR" dirty="0"/>
            <a:t>DELİLLER VE TANIMLAMALARI</a:t>
          </a:r>
        </a:p>
      </dgm:t>
    </dgm:pt>
    <dgm:pt modelId="{A670D825-9B4D-4FCA-8B61-32E92F25A691}" type="parTrans" cxnId="{E0364CE4-4AE1-4447-AD79-623E4F516E39}">
      <dgm:prSet/>
      <dgm:spPr/>
      <dgm:t>
        <a:bodyPr/>
        <a:lstStyle/>
        <a:p>
          <a:endParaRPr lang="tr-TR"/>
        </a:p>
      </dgm:t>
    </dgm:pt>
    <dgm:pt modelId="{58933970-0E16-4F33-8D0F-9780B9FC7EC6}" type="sibTrans" cxnId="{E0364CE4-4AE1-4447-AD79-623E4F516E39}">
      <dgm:prSet/>
      <dgm:spPr/>
      <dgm:t>
        <a:bodyPr/>
        <a:lstStyle/>
        <a:p>
          <a:endParaRPr lang="tr-TR"/>
        </a:p>
      </dgm:t>
    </dgm:pt>
    <dgm:pt modelId="{102984A6-BC7F-41C0-A4E3-53740752411A}">
      <dgm:prSet/>
      <dgm:spPr/>
      <dgm:t>
        <a:bodyPr/>
        <a:lstStyle/>
        <a:p>
          <a:r>
            <a:rPr lang="tr-TR" dirty="0"/>
            <a:t>KAYNAKÇA VE KAPANIŞ</a:t>
          </a:r>
        </a:p>
      </dgm:t>
    </dgm:pt>
    <dgm:pt modelId="{987F7F92-D2A2-407B-A196-A82AD7AAD1FD}" type="parTrans" cxnId="{8BD39AF5-AB18-43B1-881D-37B11B2F15D0}">
      <dgm:prSet/>
      <dgm:spPr/>
      <dgm:t>
        <a:bodyPr/>
        <a:lstStyle/>
        <a:p>
          <a:endParaRPr lang="tr-TR"/>
        </a:p>
      </dgm:t>
    </dgm:pt>
    <dgm:pt modelId="{C50C16E2-6D4B-42AE-A031-38E8289A908D}" type="sibTrans" cxnId="{8BD39AF5-AB18-43B1-881D-37B11B2F15D0}">
      <dgm:prSet/>
      <dgm:spPr/>
      <dgm:t>
        <a:bodyPr/>
        <a:lstStyle/>
        <a:p>
          <a:endParaRPr lang="tr-TR"/>
        </a:p>
      </dgm:t>
    </dgm:pt>
    <dgm:pt modelId="{41A072EE-54AF-4896-BB65-131DEE65198D}" type="pres">
      <dgm:prSet presAssocID="{FC8081F5-EE35-4044-8CF0-5732E505F070}" presName="Name0" presStyleCnt="0">
        <dgm:presLayoutVars>
          <dgm:dir/>
          <dgm:animLvl val="lvl"/>
          <dgm:resizeHandles val="exact"/>
        </dgm:presLayoutVars>
      </dgm:prSet>
      <dgm:spPr/>
    </dgm:pt>
    <dgm:pt modelId="{87C48E2D-7858-4C8D-BA9D-175AF21163AC}" type="pres">
      <dgm:prSet presAssocID="{AACEB9D0-89D3-4B4C-8D4E-01EA0C5B6A28}" presName="parTxOnly" presStyleLbl="node1" presStyleIdx="0" presStyleCnt="5">
        <dgm:presLayoutVars>
          <dgm:chMax val="0"/>
          <dgm:chPref val="0"/>
          <dgm:bulletEnabled val="1"/>
        </dgm:presLayoutVars>
      </dgm:prSet>
      <dgm:spPr/>
    </dgm:pt>
    <dgm:pt modelId="{2ECAB282-4388-405A-A56A-40698AF78D91}" type="pres">
      <dgm:prSet presAssocID="{9B5EAB71-12E0-4A90-A007-907410C96FFA}" presName="parTxOnlySpace" presStyleCnt="0"/>
      <dgm:spPr/>
    </dgm:pt>
    <dgm:pt modelId="{9FA53841-D131-4A39-9E61-91384AF5A5CD}" type="pres">
      <dgm:prSet presAssocID="{2A91C67A-0D33-4E14-95D0-EE505107FA42}" presName="parTxOnly" presStyleLbl="node1" presStyleIdx="1" presStyleCnt="5">
        <dgm:presLayoutVars>
          <dgm:chMax val="0"/>
          <dgm:chPref val="0"/>
          <dgm:bulletEnabled val="1"/>
        </dgm:presLayoutVars>
      </dgm:prSet>
      <dgm:spPr/>
    </dgm:pt>
    <dgm:pt modelId="{14F3DFCE-BC06-45F0-AFCD-5E7B3161A7EF}" type="pres">
      <dgm:prSet presAssocID="{9CE7088D-53CC-4D57-9370-32723905D8DD}" presName="parTxOnlySpace" presStyleCnt="0"/>
      <dgm:spPr/>
    </dgm:pt>
    <dgm:pt modelId="{72851DB6-CDCB-4407-95B1-52810E3A3462}" type="pres">
      <dgm:prSet presAssocID="{494F3E69-8367-4C1B-B4B5-D23513ED1B9D}" presName="parTxOnly" presStyleLbl="node1" presStyleIdx="2" presStyleCnt="5">
        <dgm:presLayoutVars>
          <dgm:chMax val="0"/>
          <dgm:chPref val="0"/>
          <dgm:bulletEnabled val="1"/>
        </dgm:presLayoutVars>
      </dgm:prSet>
      <dgm:spPr/>
    </dgm:pt>
    <dgm:pt modelId="{A6B420B6-99CD-4E77-AD3B-AEE938FE4792}" type="pres">
      <dgm:prSet presAssocID="{184C3EB1-942A-458C-8BFF-17130B3B3712}" presName="parTxOnlySpace" presStyleCnt="0"/>
      <dgm:spPr/>
    </dgm:pt>
    <dgm:pt modelId="{F29C6656-A306-4A59-9F5A-D8468F572330}" type="pres">
      <dgm:prSet presAssocID="{50915D73-A2B3-4F06-B41D-50494B7A0040}" presName="parTxOnly" presStyleLbl="node1" presStyleIdx="3" presStyleCnt="5">
        <dgm:presLayoutVars>
          <dgm:chMax val="0"/>
          <dgm:chPref val="0"/>
          <dgm:bulletEnabled val="1"/>
        </dgm:presLayoutVars>
      </dgm:prSet>
      <dgm:spPr/>
    </dgm:pt>
    <dgm:pt modelId="{BE8C7E05-0E40-4CFC-8FD2-30DAFA2D1BC5}" type="pres">
      <dgm:prSet presAssocID="{58933970-0E16-4F33-8D0F-9780B9FC7EC6}" presName="parTxOnlySpace" presStyleCnt="0"/>
      <dgm:spPr/>
    </dgm:pt>
    <dgm:pt modelId="{429DE470-5CE3-4581-A880-B1FD1B0FE204}" type="pres">
      <dgm:prSet presAssocID="{102984A6-BC7F-41C0-A4E3-53740752411A}" presName="parTxOnly" presStyleLbl="node1" presStyleIdx="4" presStyleCnt="5">
        <dgm:presLayoutVars>
          <dgm:chMax val="0"/>
          <dgm:chPref val="0"/>
          <dgm:bulletEnabled val="1"/>
        </dgm:presLayoutVars>
      </dgm:prSet>
      <dgm:spPr/>
    </dgm:pt>
  </dgm:ptLst>
  <dgm:cxnLst>
    <dgm:cxn modelId="{E18F8604-1EB4-4798-AF4C-DF04A3FDF47A}" type="presOf" srcId="{102984A6-BC7F-41C0-A4E3-53740752411A}" destId="{429DE470-5CE3-4581-A880-B1FD1B0FE204}" srcOrd="0" destOrd="0" presId="urn:microsoft.com/office/officeart/2005/8/layout/chevron1"/>
    <dgm:cxn modelId="{BF149807-27F6-40B3-9D3B-41D66AE691E1}" type="presOf" srcId="{2A91C67A-0D33-4E14-95D0-EE505107FA42}" destId="{9FA53841-D131-4A39-9E61-91384AF5A5CD}" srcOrd="0" destOrd="0" presId="urn:microsoft.com/office/officeart/2005/8/layout/chevron1"/>
    <dgm:cxn modelId="{2CD0000D-59F5-4AF1-9EA4-2444078C549C}" type="presOf" srcId="{494F3E69-8367-4C1B-B4B5-D23513ED1B9D}" destId="{72851DB6-CDCB-4407-95B1-52810E3A3462}" srcOrd="0" destOrd="0" presId="urn:microsoft.com/office/officeart/2005/8/layout/chevron1"/>
    <dgm:cxn modelId="{242F421C-D30E-4247-A8CA-AD35E3C7811A}" srcId="{FC8081F5-EE35-4044-8CF0-5732E505F070}" destId="{2A91C67A-0D33-4E14-95D0-EE505107FA42}" srcOrd="1" destOrd="0" parTransId="{294A91D7-AE27-41A0-A133-6F7ACF68E2BF}" sibTransId="{9CE7088D-53CC-4D57-9370-32723905D8DD}"/>
    <dgm:cxn modelId="{BFC52FA3-8594-42A7-82F8-88234B42A39E}" srcId="{FC8081F5-EE35-4044-8CF0-5732E505F070}" destId="{AACEB9D0-89D3-4B4C-8D4E-01EA0C5B6A28}" srcOrd="0" destOrd="0" parTransId="{36A4D744-3BC4-49BB-9D8C-5A4CE92E3BAE}" sibTransId="{9B5EAB71-12E0-4A90-A007-907410C96FFA}"/>
    <dgm:cxn modelId="{DED724AF-9FE1-404C-B6CF-5C1B3B2007A5}" type="presOf" srcId="{FC8081F5-EE35-4044-8CF0-5732E505F070}" destId="{41A072EE-54AF-4896-BB65-131DEE65198D}" srcOrd="0" destOrd="0" presId="urn:microsoft.com/office/officeart/2005/8/layout/chevron1"/>
    <dgm:cxn modelId="{30131BC9-7DB0-4E1A-8AEE-F17E192ED127}" type="presOf" srcId="{50915D73-A2B3-4F06-B41D-50494B7A0040}" destId="{F29C6656-A306-4A59-9F5A-D8468F572330}" srcOrd="0" destOrd="0" presId="urn:microsoft.com/office/officeart/2005/8/layout/chevron1"/>
    <dgm:cxn modelId="{E9DF76E3-EF55-4D89-B557-1905D4046DDA}" srcId="{FC8081F5-EE35-4044-8CF0-5732E505F070}" destId="{494F3E69-8367-4C1B-B4B5-D23513ED1B9D}" srcOrd="2" destOrd="0" parTransId="{B68E992A-CDE2-461F-923A-F88BA1F11E39}" sibTransId="{184C3EB1-942A-458C-8BFF-17130B3B3712}"/>
    <dgm:cxn modelId="{E0364CE4-4AE1-4447-AD79-623E4F516E39}" srcId="{FC8081F5-EE35-4044-8CF0-5732E505F070}" destId="{50915D73-A2B3-4F06-B41D-50494B7A0040}" srcOrd="3" destOrd="0" parTransId="{A670D825-9B4D-4FCA-8B61-32E92F25A691}" sibTransId="{58933970-0E16-4F33-8D0F-9780B9FC7EC6}"/>
    <dgm:cxn modelId="{F1E6FDEA-C49D-4C2C-BE15-27DC70DE6CB1}" type="presOf" srcId="{AACEB9D0-89D3-4B4C-8D4E-01EA0C5B6A28}" destId="{87C48E2D-7858-4C8D-BA9D-175AF21163AC}" srcOrd="0" destOrd="0" presId="urn:microsoft.com/office/officeart/2005/8/layout/chevron1"/>
    <dgm:cxn modelId="{8BD39AF5-AB18-43B1-881D-37B11B2F15D0}" srcId="{FC8081F5-EE35-4044-8CF0-5732E505F070}" destId="{102984A6-BC7F-41C0-A4E3-53740752411A}" srcOrd="4" destOrd="0" parTransId="{987F7F92-D2A2-407B-A196-A82AD7AAD1FD}" sibTransId="{C50C16E2-6D4B-42AE-A031-38E8289A908D}"/>
    <dgm:cxn modelId="{8D691A01-1DA3-4B0C-B730-41CEE356A87B}" type="presParOf" srcId="{41A072EE-54AF-4896-BB65-131DEE65198D}" destId="{87C48E2D-7858-4C8D-BA9D-175AF21163AC}" srcOrd="0" destOrd="0" presId="urn:microsoft.com/office/officeart/2005/8/layout/chevron1"/>
    <dgm:cxn modelId="{CE22EB65-7E74-4619-AFB4-7841A75E4E0B}" type="presParOf" srcId="{41A072EE-54AF-4896-BB65-131DEE65198D}" destId="{2ECAB282-4388-405A-A56A-40698AF78D91}" srcOrd="1" destOrd="0" presId="urn:microsoft.com/office/officeart/2005/8/layout/chevron1"/>
    <dgm:cxn modelId="{67F8F810-57DA-4FF1-9376-ED5932635F43}" type="presParOf" srcId="{41A072EE-54AF-4896-BB65-131DEE65198D}" destId="{9FA53841-D131-4A39-9E61-91384AF5A5CD}" srcOrd="2" destOrd="0" presId="urn:microsoft.com/office/officeart/2005/8/layout/chevron1"/>
    <dgm:cxn modelId="{00D9F5F2-FDA9-458E-B05B-A39F9AFEB50A}" type="presParOf" srcId="{41A072EE-54AF-4896-BB65-131DEE65198D}" destId="{14F3DFCE-BC06-45F0-AFCD-5E7B3161A7EF}" srcOrd="3" destOrd="0" presId="urn:microsoft.com/office/officeart/2005/8/layout/chevron1"/>
    <dgm:cxn modelId="{17245CC2-E41F-43A2-A003-73BEC1FC9386}" type="presParOf" srcId="{41A072EE-54AF-4896-BB65-131DEE65198D}" destId="{72851DB6-CDCB-4407-95B1-52810E3A3462}" srcOrd="4" destOrd="0" presId="urn:microsoft.com/office/officeart/2005/8/layout/chevron1"/>
    <dgm:cxn modelId="{45C37B12-8AE8-4DBC-974F-3B593E94EB8E}" type="presParOf" srcId="{41A072EE-54AF-4896-BB65-131DEE65198D}" destId="{A6B420B6-99CD-4E77-AD3B-AEE938FE4792}" srcOrd="5" destOrd="0" presId="urn:microsoft.com/office/officeart/2005/8/layout/chevron1"/>
    <dgm:cxn modelId="{3D8532AD-4912-4DD3-A594-203E1EF2A128}" type="presParOf" srcId="{41A072EE-54AF-4896-BB65-131DEE65198D}" destId="{F29C6656-A306-4A59-9F5A-D8468F572330}" srcOrd="6" destOrd="0" presId="urn:microsoft.com/office/officeart/2005/8/layout/chevron1"/>
    <dgm:cxn modelId="{2AB009C0-A767-4458-A249-ECF4C7AB4C73}" type="presParOf" srcId="{41A072EE-54AF-4896-BB65-131DEE65198D}" destId="{BE8C7E05-0E40-4CFC-8FD2-30DAFA2D1BC5}" srcOrd="7" destOrd="0" presId="urn:microsoft.com/office/officeart/2005/8/layout/chevron1"/>
    <dgm:cxn modelId="{EA89A21E-2299-4CCC-914F-F1E037059F5B}" type="presParOf" srcId="{41A072EE-54AF-4896-BB65-131DEE65198D}" destId="{429DE470-5CE3-4581-A880-B1FD1B0FE204}"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C48E2D-7858-4C8D-BA9D-175AF21163AC}">
      <dsp:nvSpPr>
        <dsp:cNvPr id="0" name=""/>
        <dsp:cNvSpPr/>
      </dsp:nvSpPr>
      <dsp:spPr>
        <a:xfrm>
          <a:off x="2541" y="1603574"/>
          <a:ext cx="2262046" cy="90481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8006" tIns="16002" rIns="16002" bIns="16002" numCol="1" spcCol="1270" anchor="ctr" anchorCtr="0">
          <a:noAutofit/>
        </a:bodyPr>
        <a:lstStyle/>
        <a:p>
          <a:pPr marL="0" lvl="0" indent="0" algn="ctr" defTabSz="533400">
            <a:lnSpc>
              <a:spcPct val="90000"/>
            </a:lnSpc>
            <a:spcBef>
              <a:spcPct val="0"/>
            </a:spcBef>
            <a:spcAft>
              <a:spcPct val="35000"/>
            </a:spcAft>
            <a:buNone/>
          </a:pPr>
          <a:r>
            <a:rPr lang="tr-TR" sz="1200" kern="1200" dirty="0"/>
            <a:t>GİRİŞ</a:t>
          </a:r>
        </a:p>
      </dsp:txBody>
      <dsp:txXfrm>
        <a:off x="454950" y="1603574"/>
        <a:ext cx="1357228" cy="904818"/>
      </dsp:txXfrm>
    </dsp:sp>
    <dsp:sp modelId="{9FA53841-D131-4A39-9E61-91384AF5A5CD}">
      <dsp:nvSpPr>
        <dsp:cNvPr id="0" name=""/>
        <dsp:cNvSpPr/>
      </dsp:nvSpPr>
      <dsp:spPr>
        <a:xfrm>
          <a:off x="2038383" y="1603574"/>
          <a:ext cx="2262046" cy="90481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8006" tIns="16002" rIns="16002" bIns="16002" numCol="1" spcCol="1270" anchor="ctr" anchorCtr="0">
          <a:noAutofit/>
        </a:bodyPr>
        <a:lstStyle/>
        <a:p>
          <a:pPr marL="0" lvl="0" indent="0" algn="ctr" defTabSz="533400">
            <a:lnSpc>
              <a:spcPct val="90000"/>
            </a:lnSpc>
            <a:spcBef>
              <a:spcPct val="0"/>
            </a:spcBef>
            <a:spcAft>
              <a:spcPct val="35000"/>
            </a:spcAft>
            <a:buNone/>
          </a:pPr>
          <a:r>
            <a:rPr lang="tr-TR" sz="1200" kern="1200" dirty="0"/>
            <a:t>ALLAH’IN DELİLLERİNE NEDEN İHTİYAÇ DUYARIZ?</a:t>
          </a:r>
        </a:p>
      </dsp:txBody>
      <dsp:txXfrm>
        <a:off x="2490792" y="1603574"/>
        <a:ext cx="1357228" cy="904818"/>
      </dsp:txXfrm>
    </dsp:sp>
    <dsp:sp modelId="{72851DB6-CDCB-4407-95B1-52810E3A3462}">
      <dsp:nvSpPr>
        <dsp:cNvPr id="0" name=""/>
        <dsp:cNvSpPr/>
      </dsp:nvSpPr>
      <dsp:spPr>
        <a:xfrm>
          <a:off x="4074225" y="1603574"/>
          <a:ext cx="2262046" cy="90481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8006" tIns="16002" rIns="16002" bIns="16002" numCol="1" spcCol="1270" anchor="ctr" anchorCtr="0">
          <a:noAutofit/>
        </a:bodyPr>
        <a:lstStyle/>
        <a:p>
          <a:pPr marL="0" lvl="0" indent="0" algn="ctr" defTabSz="533400">
            <a:lnSpc>
              <a:spcPct val="90000"/>
            </a:lnSpc>
            <a:spcBef>
              <a:spcPct val="0"/>
            </a:spcBef>
            <a:spcAft>
              <a:spcPct val="35000"/>
            </a:spcAft>
            <a:buNone/>
          </a:pPr>
          <a:r>
            <a:rPr lang="tr-TR" sz="1200" kern="1200" dirty="0"/>
            <a:t>ALLAH’IN DELİLLERİNE YÖNELİK AYETLER</a:t>
          </a:r>
        </a:p>
      </dsp:txBody>
      <dsp:txXfrm>
        <a:off x="4526634" y="1603574"/>
        <a:ext cx="1357228" cy="904818"/>
      </dsp:txXfrm>
    </dsp:sp>
    <dsp:sp modelId="{F29C6656-A306-4A59-9F5A-D8468F572330}">
      <dsp:nvSpPr>
        <dsp:cNvPr id="0" name=""/>
        <dsp:cNvSpPr/>
      </dsp:nvSpPr>
      <dsp:spPr>
        <a:xfrm>
          <a:off x="6110067" y="1603574"/>
          <a:ext cx="2262046" cy="90481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8006" tIns="16002" rIns="16002" bIns="16002" numCol="1" spcCol="1270" anchor="ctr" anchorCtr="0">
          <a:noAutofit/>
        </a:bodyPr>
        <a:lstStyle/>
        <a:p>
          <a:pPr marL="0" lvl="0" indent="0" algn="ctr" defTabSz="533400">
            <a:lnSpc>
              <a:spcPct val="90000"/>
            </a:lnSpc>
            <a:spcBef>
              <a:spcPct val="0"/>
            </a:spcBef>
            <a:spcAft>
              <a:spcPct val="35000"/>
            </a:spcAft>
            <a:buNone/>
          </a:pPr>
          <a:r>
            <a:rPr lang="tr-TR" sz="1200" kern="1200" dirty="0"/>
            <a:t>DELİLLER VE TANIMLAMALARI</a:t>
          </a:r>
        </a:p>
      </dsp:txBody>
      <dsp:txXfrm>
        <a:off x="6562476" y="1603574"/>
        <a:ext cx="1357228" cy="904818"/>
      </dsp:txXfrm>
    </dsp:sp>
    <dsp:sp modelId="{429DE470-5CE3-4581-A880-B1FD1B0FE204}">
      <dsp:nvSpPr>
        <dsp:cNvPr id="0" name=""/>
        <dsp:cNvSpPr/>
      </dsp:nvSpPr>
      <dsp:spPr>
        <a:xfrm>
          <a:off x="8145908" y="1603574"/>
          <a:ext cx="2262046" cy="90481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8006" tIns="16002" rIns="16002" bIns="16002" numCol="1" spcCol="1270" anchor="ctr" anchorCtr="0">
          <a:noAutofit/>
        </a:bodyPr>
        <a:lstStyle/>
        <a:p>
          <a:pPr marL="0" lvl="0" indent="0" algn="ctr" defTabSz="533400">
            <a:lnSpc>
              <a:spcPct val="90000"/>
            </a:lnSpc>
            <a:spcBef>
              <a:spcPct val="0"/>
            </a:spcBef>
            <a:spcAft>
              <a:spcPct val="35000"/>
            </a:spcAft>
            <a:buNone/>
          </a:pPr>
          <a:r>
            <a:rPr lang="tr-TR" sz="1200" kern="1200" dirty="0"/>
            <a:t>KAYNAKÇA VE KAPANIŞ</a:t>
          </a:r>
        </a:p>
      </dsp:txBody>
      <dsp:txXfrm>
        <a:off x="8598317" y="1603574"/>
        <a:ext cx="1357228" cy="904818"/>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Başlık Slaydı">
    <p:bg>
      <p:bgRef idx="1001">
        <a:schemeClr val="bg2"/>
      </p:bgRef>
    </p:bg>
    <p:spTree>
      <p:nvGrpSpPr>
        <p:cNvPr id="1" name=""/>
        <p:cNvGrpSpPr/>
        <p:nvPr/>
      </p:nvGrpSpPr>
      <p:grpSpPr>
        <a:xfrm>
          <a:off x="0" y="0"/>
          <a:ext cx="0" cy="0"/>
          <a:chOff x="0" y="0"/>
          <a:chExt cx="0" cy="0"/>
        </a:xfrm>
      </p:grpSpPr>
      <p:sp>
        <p:nvSpPr>
          <p:cNvPr id="16" name="Rectangle 15"/>
          <p:cNvSpPr/>
          <p:nvPr/>
        </p:nvSpPr>
        <p:spPr>
          <a:xfrm>
            <a:off x="1" y="0"/>
            <a:ext cx="12192000" cy="6858000"/>
          </a:xfrm>
          <a:prstGeom prst="rect">
            <a:avLst/>
          </a:prstGeom>
          <a:blipFill dpi="0" rotWithShape="1">
            <a:blip r:embed="rId2">
              <a:alphaModFix amt="40000"/>
              <a:duotone>
                <a:schemeClr val="accent1">
                  <a:shade val="45000"/>
                  <a:satMod val="135000"/>
                </a:schemeClr>
                <a:prstClr val="white"/>
              </a:duotone>
            </a:blip>
            <a:srcRect/>
            <a:tile tx="-133350" ty="330200" sx="85000" sy="85000" flip="xy"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4" name="Group 3"/>
          <p:cNvGrpSpPr/>
          <p:nvPr/>
        </p:nvGrpSpPr>
        <p:grpSpPr>
          <a:xfrm>
            <a:off x="5250180" y="1267730"/>
            <a:ext cx="1691640" cy="645295"/>
            <a:chOff x="5318306" y="1386268"/>
            <a:chExt cx="1567331" cy="645295"/>
          </a:xfrm>
        </p:grpSpPr>
        <p:cxnSp>
          <p:nvCxnSpPr>
            <p:cNvPr id="17" name="Straight Connector 16"/>
            <p:cNvCxnSpPr/>
            <p:nvPr/>
          </p:nvCxnSpPr>
          <p:spPr>
            <a:xfrm>
              <a:off x="5318306" y="1386268"/>
              <a:ext cx="0" cy="640080"/>
            </a:xfrm>
            <a:prstGeom prst="line">
              <a:avLst/>
            </a:prstGeom>
            <a:solidFill>
              <a:schemeClr val="tx1">
                <a:lumMod val="85000"/>
                <a:lumOff val="15000"/>
              </a:schemeClr>
            </a:solidFill>
            <a:ln>
              <a:solidFill>
                <a:schemeClr val="tx1">
                  <a:lumMod val="85000"/>
                  <a:lumOff val="15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885637" y="1386268"/>
              <a:ext cx="0" cy="640080"/>
            </a:xfrm>
            <a:prstGeom prst="line">
              <a:avLst/>
            </a:prstGeom>
            <a:solidFill>
              <a:schemeClr val="tx1">
                <a:lumMod val="85000"/>
                <a:lumOff val="15000"/>
              </a:schemeClr>
            </a:solidFill>
            <a:ln>
              <a:solidFill>
                <a:schemeClr val="tx1">
                  <a:lumMod val="85000"/>
                  <a:lumOff val="15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318306" y="2031563"/>
              <a:ext cx="1567331" cy="0"/>
            </a:xfrm>
            <a:prstGeom prst="line">
              <a:avLst/>
            </a:prstGeom>
            <a:solidFill>
              <a:schemeClr val="tx1">
                <a:lumMod val="85000"/>
                <a:lumOff val="15000"/>
              </a:schemeClr>
            </a:solidFill>
            <a:ln>
              <a:solidFill>
                <a:schemeClr val="tx1">
                  <a:lumMod val="85000"/>
                  <a:lumOff val="15000"/>
                </a:schemeClr>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561708" y="2091263"/>
            <a:ext cx="9068586" cy="2590800"/>
          </a:xfrm>
        </p:spPr>
        <p:txBody>
          <a:bodyPr tIns="45720" bIns="45720" anchor="ctr">
            <a:noAutofit/>
          </a:bodyPr>
          <a:lstStyle>
            <a:lvl1pPr algn="ctr">
              <a:lnSpc>
                <a:spcPct val="83000"/>
              </a:lnSpc>
              <a:defRPr lang="en-US" sz="7200" b="0" kern="1200" cap="all" spc="-100" baseline="0" dirty="0">
                <a:solidFill>
                  <a:schemeClr val="tx1">
                    <a:lumMod val="85000"/>
                    <a:lumOff val="15000"/>
                  </a:schemeClr>
                </a:solidFill>
                <a:effectLst/>
                <a:latin typeface="+mj-lt"/>
                <a:ea typeface="+mn-ea"/>
                <a:cs typeface="+mn-cs"/>
              </a:defRPr>
            </a:lvl1pPr>
          </a:lstStyle>
          <a:p>
            <a:r>
              <a:rPr lang="tr-TR"/>
              <a:t>Asıl başlık stilini düzenlemek için tıklayın</a:t>
            </a:r>
            <a:endParaRPr lang="en-US" dirty="0"/>
          </a:p>
        </p:txBody>
      </p:sp>
      <p:sp>
        <p:nvSpPr>
          <p:cNvPr id="3" name="Subtitle 2"/>
          <p:cNvSpPr>
            <a:spLocks noGrp="1"/>
          </p:cNvSpPr>
          <p:nvPr>
            <p:ph type="subTitle" idx="1"/>
          </p:nvPr>
        </p:nvSpPr>
        <p:spPr>
          <a:xfrm>
            <a:off x="1562100" y="4682062"/>
            <a:ext cx="9070848" cy="457201"/>
          </a:xfrm>
        </p:spPr>
        <p:txBody>
          <a:bodyPr>
            <a:normAutofit/>
          </a:bodyPr>
          <a:lstStyle>
            <a:lvl1pPr marL="0" indent="0" algn="ctr">
              <a:spcBef>
                <a:spcPts val="0"/>
              </a:spcBef>
              <a:buNone/>
              <a:defRPr sz="1600" spc="80" baseline="0">
                <a:solidFill>
                  <a:schemeClr val="tx2">
                    <a:lumMod val="75000"/>
                  </a:schemeClr>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dirty="0"/>
          </a:p>
        </p:txBody>
      </p:sp>
      <p:sp>
        <p:nvSpPr>
          <p:cNvPr id="20" name="Date Placeholder 19"/>
          <p:cNvSpPr>
            <a:spLocks noGrp="1"/>
          </p:cNvSpPr>
          <p:nvPr>
            <p:ph type="dt" sz="half" idx="10"/>
          </p:nvPr>
        </p:nvSpPr>
        <p:spPr>
          <a:xfrm>
            <a:off x="5318760" y="1341255"/>
            <a:ext cx="1554480" cy="527213"/>
          </a:xfrm>
        </p:spPr>
        <p:txBody>
          <a:bodyPr/>
          <a:lstStyle>
            <a:lvl1pPr algn="ctr">
              <a:defRPr sz="1300" spc="0" baseline="0">
                <a:solidFill>
                  <a:srgbClr val="FFFFFF"/>
                </a:solidFill>
                <a:latin typeface="+mn-lt"/>
              </a:defRPr>
            </a:lvl1pPr>
          </a:lstStyle>
          <a:p>
            <a:fld id="{A76EB9D5-7E1A-4433-8B21-2237CC26FA2C}" type="datetimeFigureOut">
              <a:rPr lang="en-US" dirty="0"/>
              <a:t>5/16/2022</a:t>
            </a:fld>
            <a:endParaRPr lang="en-US" dirty="0"/>
          </a:p>
        </p:txBody>
      </p:sp>
      <p:sp>
        <p:nvSpPr>
          <p:cNvPr id="21" name="Footer Placeholder 20"/>
          <p:cNvSpPr>
            <a:spLocks noGrp="1"/>
          </p:cNvSpPr>
          <p:nvPr>
            <p:ph type="ftr" sz="quarter" idx="11"/>
          </p:nvPr>
        </p:nvSpPr>
        <p:spPr>
          <a:xfrm>
            <a:off x="1453896" y="5212080"/>
            <a:ext cx="5905500" cy="228600"/>
          </a:xfrm>
        </p:spPr>
        <p:txBody>
          <a:bodyPr/>
          <a:lstStyle>
            <a:lvl1pPr algn="l">
              <a:defRPr>
                <a:solidFill>
                  <a:schemeClr val="tx1">
                    <a:lumMod val="75000"/>
                    <a:lumOff val="25000"/>
                  </a:schemeClr>
                </a:solidFill>
              </a:defRPr>
            </a:lvl1pPr>
          </a:lstStyle>
          <a:p>
            <a:endParaRPr lang="en-US" dirty="0"/>
          </a:p>
        </p:txBody>
      </p:sp>
      <p:sp>
        <p:nvSpPr>
          <p:cNvPr id="22" name="Slide Number Placeholder 21"/>
          <p:cNvSpPr>
            <a:spLocks noGrp="1"/>
          </p:cNvSpPr>
          <p:nvPr>
            <p:ph type="sldNum" sz="quarter" idx="12"/>
          </p:nvPr>
        </p:nvSpPr>
        <p:spPr>
          <a:xfrm>
            <a:off x="8606919" y="5212080"/>
            <a:ext cx="2111881" cy="228600"/>
          </a:xfrm>
        </p:spPr>
        <p:txBody>
          <a:bodyPr/>
          <a:lstStyle>
            <a:lvl1pPr>
              <a:defRPr>
                <a:solidFill>
                  <a:schemeClr val="tx1">
                    <a:lumMod val="75000"/>
                    <a:lumOff val="25000"/>
                  </a:schemeClr>
                </a:solidFill>
              </a:defRPr>
            </a:lvl1pPr>
          </a:lstStyle>
          <a:p>
            <a:fld id="{4FAB73BC-B049-4115-A692-8D63A059BFB8}" type="slidenum">
              <a:rPr lang="en-US" dirty="0"/>
              <a:pPr/>
              <a:t>‹#›</a:t>
            </a:fld>
            <a:endParaRPr lang="en-US" dirty="0"/>
          </a:p>
        </p:txBody>
      </p:sp>
    </p:spTree>
  </p:cSld>
  <p:clrMapOvr>
    <a:overrideClrMapping bg1="lt1" tx1="dk1" bg2="lt2" tx2="dk2" accent1="accent1" accent2="accent2" accent3="accent3" accent4="accent4" accent5="accent5" accent6="accent6" hlink="hlink" folHlink="folHlink"/>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539EF837-FEDB-44F2-8FB5-4F56FC548A33}" type="datetimeFigureOut">
              <a:rPr lang="en-US" dirty="0"/>
              <a:t>5/16/2022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Bölüm Üst Bilgisi">
    <p:bg>
      <p:bgRef idx="1001">
        <a:schemeClr val="bg2"/>
      </p:bgRef>
    </p:bg>
    <p:spTree>
      <p:nvGrpSpPr>
        <p:cNvPr id="1" name=""/>
        <p:cNvGrpSpPr/>
        <p:nvPr/>
      </p:nvGrpSpPr>
      <p:grpSpPr>
        <a:xfrm>
          <a:off x="0" y="0"/>
          <a:ext cx="0" cy="0"/>
          <a:chOff x="0" y="0"/>
          <a:chExt cx="0" cy="0"/>
        </a:xfrm>
      </p:grpSpPr>
      <p:sp>
        <p:nvSpPr>
          <p:cNvPr id="16" name="Rectangle 15"/>
          <p:cNvSpPr/>
          <p:nvPr/>
        </p:nvSpPr>
        <p:spPr>
          <a:xfrm>
            <a:off x="11784" y="0"/>
            <a:ext cx="12192000" cy="6858000"/>
          </a:xfrm>
          <a:prstGeom prst="rect">
            <a:avLst/>
          </a:prstGeom>
          <a:blipFill dpi="0" rotWithShape="1">
            <a:blip r:embed="rId2">
              <a:alphaModFix amt="40000"/>
              <a:duotone>
                <a:schemeClr val="accent2">
                  <a:shade val="45000"/>
                  <a:satMod val="135000"/>
                </a:schemeClr>
                <a:prstClr val="white"/>
              </a:duotone>
            </a:blip>
            <a:srcRect/>
            <a:tile tx="-133350" ty="330200" sx="85000" sy="85000" flip="xy"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3" name="Rectangle 22"/>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30" name="Rectangle 29"/>
          <p:cNvSpPr/>
          <p:nvPr/>
        </p:nvSpPr>
        <p:spPr>
          <a:xfrm>
            <a:off x="5135880" y="1267730"/>
            <a:ext cx="1920240" cy="7315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31" name="Group 30"/>
          <p:cNvGrpSpPr/>
          <p:nvPr/>
        </p:nvGrpSpPr>
        <p:grpSpPr>
          <a:xfrm>
            <a:off x="5250180" y="1267730"/>
            <a:ext cx="1691640" cy="645295"/>
            <a:chOff x="5318306" y="1386268"/>
            <a:chExt cx="1567331" cy="645295"/>
          </a:xfrm>
        </p:grpSpPr>
        <p:cxnSp>
          <p:nvCxnSpPr>
            <p:cNvPr id="32" name="Straight Connector 31"/>
            <p:cNvCxnSpPr/>
            <p:nvPr/>
          </p:nvCxnSpPr>
          <p:spPr>
            <a:xfrm>
              <a:off x="5318306" y="1386268"/>
              <a:ext cx="0" cy="640080"/>
            </a:xfrm>
            <a:prstGeom prst="line">
              <a:avLst/>
            </a:prstGeom>
            <a:solidFill>
              <a:schemeClr val="tx1">
                <a:lumMod val="85000"/>
                <a:lumOff val="15000"/>
              </a:schemeClr>
            </a:solidFill>
            <a:ln>
              <a:solidFill>
                <a:schemeClr val="accent2">
                  <a:lumMod val="50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6885637" y="1386268"/>
              <a:ext cx="0" cy="640080"/>
            </a:xfrm>
            <a:prstGeom prst="line">
              <a:avLst/>
            </a:prstGeom>
            <a:solidFill>
              <a:schemeClr val="tx1">
                <a:lumMod val="85000"/>
                <a:lumOff val="15000"/>
              </a:schemeClr>
            </a:solidFill>
            <a:ln>
              <a:solidFill>
                <a:schemeClr val="accent2">
                  <a:lumMod val="50000"/>
                </a:schemeClr>
              </a:solidFill>
              <a:miter lim="800000"/>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318306" y="2031563"/>
              <a:ext cx="1567331" cy="0"/>
            </a:xfrm>
            <a:prstGeom prst="line">
              <a:avLst/>
            </a:prstGeom>
            <a:solidFill>
              <a:schemeClr val="tx1">
                <a:lumMod val="85000"/>
                <a:lumOff val="15000"/>
              </a:schemeClr>
            </a:solidFill>
            <a:ln>
              <a:solidFill>
                <a:schemeClr val="accent2">
                  <a:lumMod val="50000"/>
                </a:schemeClr>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1563623" y="2094309"/>
            <a:ext cx="9070848" cy="2587752"/>
          </a:xfrm>
        </p:spPr>
        <p:txBody>
          <a:bodyPr anchor="ctr">
            <a:noAutofit/>
          </a:bodyPr>
          <a:lstStyle>
            <a:lvl1pPr algn="ctr">
              <a:lnSpc>
                <a:spcPct val="83000"/>
              </a:lnSpc>
              <a:defRPr lang="en-US" sz="7200" kern="1200" cap="all" spc="-100" baseline="0" dirty="0">
                <a:solidFill>
                  <a:schemeClr val="tx1">
                    <a:lumMod val="85000"/>
                    <a:lumOff val="15000"/>
                  </a:schemeClr>
                </a:solidFill>
                <a:effectLst/>
                <a:latin typeface="+mj-lt"/>
                <a:ea typeface="+mn-ea"/>
                <a:cs typeface="+mn-cs"/>
              </a:defRPr>
            </a:lvl1pPr>
          </a:lstStyle>
          <a:p>
            <a:r>
              <a:rPr lang="tr-TR"/>
              <a:t>Asıl başlık stilini düzenlemek için tıklayın</a:t>
            </a:r>
            <a:endParaRPr lang="en-US" dirty="0"/>
          </a:p>
        </p:txBody>
      </p:sp>
      <p:sp>
        <p:nvSpPr>
          <p:cNvPr id="3" name="Text Placeholder 2"/>
          <p:cNvSpPr>
            <a:spLocks noGrp="1"/>
          </p:cNvSpPr>
          <p:nvPr>
            <p:ph type="body" idx="1"/>
          </p:nvPr>
        </p:nvSpPr>
        <p:spPr>
          <a:xfrm>
            <a:off x="1563624" y="4682062"/>
            <a:ext cx="9070848" cy="457200"/>
          </a:xfrm>
        </p:spPr>
        <p:txBody>
          <a:bodyPr anchor="t">
            <a:normAutofit/>
          </a:bodyPr>
          <a:lstStyle>
            <a:lvl1pPr marL="0" indent="0" algn="ctr">
              <a:buNone/>
              <a:tabLst>
                <a:tab pos="2633663" algn="l"/>
              </a:tabLst>
              <a:defRPr sz="1600">
                <a:solidFill>
                  <a:schemeClr val="tx2"/>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a:xfrm>
            <a:off x="5321808" y="1344502"/>
            <a:ext cx="1554480" cy="530352"/>
          </a:xfrm>
        </p:spPr>
        <p:txBody>
          <a:bodyPr/>
          <a:lstStyle>
            <a:lvl1pPr algn="ctr">
              <a:defRPr lang="en-US" sz="1300" kern="1200" spc="0" baseline="0">
                <a:solidFill>
                  <a:srgbClr val="FFFFFF"/>
                </a:solidFill>
                <a:latin typeface="+mn-lt"/>
                <a:ea typeface="+mn-ea"/>
                <a:cs typeface="+mn-cs"/>
              </a:defRPr>
            </a:lvl1pPr>
          </a:lstStyle>
          <a:p>
            <a:fld id="{4EC2AB55-62C0-407E-B706-C907B44B0BFC}" type="datetimeFigureOut">
              <a:rPr lang="en-US" dirty="0"/>
              <a:t>5/16/2022</a:t>
            </a:fld>
            <a:endParaRPr lang="en-US" dirty="0"/>
          </a:p>
        </p:txBody>
      </p:sp>
      <p:sp>
        <p:nvSpPr>
          <p:cNvPr id="5" name="Footer Placeholder 4"/>
          <p:cNvSpPr>
            <a:spLocks noGrp="1"/>
          </p:cNvSpPr>
          <p:nvPr>
            <p:ph type="ftr" sz="quarter" idx="11"/>
          </p:nvPr>
        </p:nvSpPr>
        <p:spPr>
          <a:xfrm>
            <a:off x="1453896" y="5212080"/>
            <a:ext cx="5907024" cy="228600"/>
          </a:xfrm>
        </p:spPr>
        <p:txBody>
          <a:bodyPr/>
          <a:lstStyle>
            <a:lvl1pPr algn="l">
              <a:defRPr/>
            </a:lvl1pPr>
          </a:lstStyle>
          <a:p>
            <a:endParaRPr lang="en-US" dirty="0"/>
          </a:p>
        </p:txBody>
      </p:sp>
      <p:sp>
        <p:nvSpPr>
          <p:cNvPr id="6" name="Slide Number Placeholder 5"/>
          <p:cNvSpPr>
            <a:spLocks noGrp="1"/>
          </p:cNvSpPr>
          <p:nvPr>
            <p:ph type="sldNum" sz="quarter" idx="12"/>
          </p:nvPr>
        </p:nvSpPr>
        <p:spPr>
          <a:xfrm>
            <a:off x="8604504" y="5212080"/>
            <a:ext cx="2112264" cy="228600"/>
          </a:xfrm>
        </p:spPr>
        <p:txBody>
          <a:bodyPr/>
          <a:lstStyle/>
          <a:p>
            <a:fld id="{4FAB73BC-B049-4115-A692-8D63A059BFB8}" type="slidenum">
              <a:rPr lang="en-US" dirty="0"/>
              <a:t>‹#›</a:t>
            </a:fld>
            <a:endParaRPr lang="en-US" dirty="0"/>
          </a:p>
        </p:txBody>
      </p:sp>
    </p:spTree>
  </p:cSld>
  <p:clrMapOvr>
    <a:overrideClrMapping bg1="lt1" tx1="dk1" bg2="lt2" tx2="dk2" accent1="accent1" accent2="accent2" accent3="accent3" accent4="accent4" accent5="accent5" accent6="accent6" hlink="hlink" folHlink="folHlink"/>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106680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637032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69FBB33F-FEF5-4E73-A5F9-307689FE77C6}" type="datetimeFigureOut">
              <a:rPr lang="en-US" dirty="0"/>
              <a:t>5/16/2022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Text Placeholder 2"/>
          <p:cNvSpPr>
            <a:spLocks noGrp="1"/>
          </p:cNvSpPr>
          <p:nvPr>
            <p:ph type="body" idx="1"/>
          </p:nvPr>
        </p:nvSpPr>
        <p:spPr>
          <a:xfrm>
            <a:off x="1069848" y="2074334"/>
            <a:ext cx="4754880" cy="640080"/>
          </a:xfrm>
        </p:spPr>
        <p:txBody>
          <a:bodyPr anchor="ctr">
            <a:normAutofit/>
          </a:bodyPr>
          <a:lstStyle>
            <a:lvl1pPr marL="0" indent="0" algn="ctr">
              <a:spcBef>
                <a:spcPts val="0"/>
              </a:spcBef>
              <a:buNone/>
              <a:defRPr sz="1800" b="0">
                <a:solidFill>
                  <a:schemeClr val="tx2"/>
                </a:solidFill>
                <a:latin typeface="+mn-lt"/>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Content Placeholder 3"/>
          <p:cNvSpPr>
            <a:spLocks noGrp="1"/>
          </p:cNvSpPr>
          <p:nvPr>
            <p:ph sz="half" idx="2"/>
          </p:nvPr>
        </p:nvSpPr>
        <p:spPr>
          <a:xfrm>
            <a:off x="1069848" y="2755898"/>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6373368" y="2074334"/>
            <a:ext cx="4754880" cy="640080"/>
          </a:xfrm>
        </p:spPr>
        <p:txBody>
          <a:bodyPr anchor="ctr">
            <a:normAutofit/>
          </a:bodyPr>
          <a:lstStyle>
            <a:lvl1pPr marL="0" indent="0" algn="ctr">
              <a:spcBef>
                <a:spcPts val="0"/>
              </a:spcBef>
              <a:buNone/>
              <a:defRPr sz="1800" b="0">
                <a:solidFill>
                  <a:schemeClr val="tx2"/>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Content Placeholder 5"/>
          <p:cNvSpPr>
            <a:spLocks noGrp="1"/>
          </p:cNvSpPr>
          <p:nvPr>
            <p:ph sz="quarter" idx="4"/>
          </p:nvPr>
        </p:nvSpPr>
        <p:spPr>
          <a:xfrm>
            <a:off x="6373368" y="2756581"/>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A64B5FA4-F0B8-4D71-BC92-932E3A1502F8}" type="datetimeFigureOut">
              <a:rPr lang="en-US" dirty="0"/>
              <a:t>5/16/2022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Date Placeholder 2"/>
          <p:cNvSpPr>
            <a:spLocks noGrp="1"/>
          </p:cNvSpPr>
          <p:nvPr>
            <p:ph type="dt" sz="half" idx="10"/>
          </p:nvPr>
        </p:nvSpPr>
        <p:spPr/>
        <p:txBody>
          <a:bodyPr/>
          <a:lstStyle/>
          <a:p>
            <a:fld id="{4FD89F80-C2CE-4D6A-80E4-D3515AD92BC6}" type="datetimeFigureOut">
              <a:rPr lang="en-US" dirty="0"/>
              <a:t>5/16/2022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E4220E-EF40-477E-B84C-637FC7CE78DB}" type="datetimeFigureOut">
              <a:rPr lang="en-US" dirty="0"/>
              <a:t>5/16/2022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Başlıklı İçerik">
    <p:spTree>
      <p:nvGrpSpPr>
        <p:cNvPr id="1" name=""/>
        <p:cNvGrpSpPr/>
        <p:nvPr/>
      </p:nvGrpSpPr>
      <p:grpSpPr>
        <a:xfrm>
          <a:off x="0" y="0"/>
          <a:ext cx="0" cy="0"/>
          <a:chOff x="0" y="0"/>
          <a:chExt cx="0" cy="0"/>
        </a:xfrm>
      </p:grpSpPr>
      <p:sp>
        <p:nvSpPr>
          <p:cNvPr id="15" name="Rectangle 14"/>
          <p:cNvSpPr/>
          <p:nvPr/>
        </p:nvSpPr>
        <p:spPr>
          <a:xfrm>
            <a:off x="9020386" y="237744"/>
            <a:ext cx="2926080" cy="63825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7392"/>
            <a:ext cx="2430780" cy="1645920"/>
          </a:xfrm>
        </p:spPr>
        <p:txBody>
          <a:bodyPr anchor="b">
            <a:normAutofit/>
          </a:bodyPr>
          <a:lstStyle>
            <a:lvl1pPr algn="l" defTabSz="914400" rtl="0" eaLnBrk="1" latinLnBrk="0" hangingPunct="1">
              <a:lnSpc>
                <a:spcPct val="90000"/>
              </a:lnSpc>
              <a:spcBef>
                <a:spcPct val="0"/>
              </a:spcBef>
              <a:buNone/>
              <a:defRPr lang="en-US" sz="2800" b="0" kern="1200" cap="none" spc="0" baseline="0" dirty="0">
                <a:solidFill>
                  <a:schemeClr val="tx1"/>
                </a:solidFill>
                <a:effectLst/>
                <a:latin typeface="+mj-lt"/>
                <a:ea typeface="+mn-ea"/>
                <a:cs typeface="+mn-cs"/>
              </a:defRPr>
            </a:lvl1pPr>
          </a:lstStyle>
          <a:p>
            <a:r>
              <a:rPr lang="tr-TR"/>
              <a:t>Asıl başlık stilini düzenlemek için tıklayın</a:t>
            </a:r>
            <a:endParaRPr lang="en-US" dirty="0"/>
          </a:p>
        </p:txBody>
      </p:sp>
      <p:sp>
        <p:nvSpPr>
          <p:cNvPr id="3" name="Content Placeholder 2"/>
          <p:cNvSpPr>
            <a:spLocks noGrp="1"/>
          </p:cNvSpPr>
          <p:nvPr>
            <p:ph idx="1"/>
          </p:nvPr>
        </p:nvSpPr>
        <p:spPr>
          <a:xfrm>
            <a:off x="685800" y="609600"/>
            <a:ext cx="7772400" cy="5334000"/>
          </a:xfrm>
        </p:spPr>
        <p:txBody>
          <a:bodyPr/>
          <a:lstStyle>
            <a:lvl1pPr>
              <a:defRPr sz="19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9296400" y="2286000"/>
            <a:ext cx="2430780" cy="3505200"/>
          </a:xfrm>
        </p:spPr>
        <p:txBody>
          <a:bodyPr>
            <a:normAutofit/>
          </a:bodyPr>
          <a:lstStyle>
            <a:lvl1pPr marL="0" indent="0">
              <a:lnSpc>
                <a:spcPct val="110000"/>
              </a:lnSpc>
              <a:spcBef>
                <a:spcPts val="800"/>
              </a:spcBef>
              <a:buNone/>
              <a:defRPr sz="14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8" name="Date Placeholder 7"/>
          <p:cNvSpPr>
            <a:spLocks noGrp="1"/>
          </p:cNvSpPr>
          <p:nvPr>
            <p:ph type="dt" sz="half" idx="10"/>
          </p:nvPr>
        </p:nvSpPr>
        <p:spPr/>
        <p:txBody>
          <a:bodyPr/>
          <a:lstStyle/>
          <a:p>
            <a:fld id="{FD0B8D63-E026-4E54-B301-C824E1BD14F3}" type="datetimeFigureOut">
              <a:rPr lang="en-US" dirty="0"/>
              <a:t>5/16/2022</a:t>
            </a:fld>
            <a:endParaRPr lang="en-US" dirty="0"/>
          </a:p>
        </p:txBody>
      </p:sp>
      <p:sp>
        <p:nvSpPr>
          <p:cNvPr id="9" name="Footer Placeholder 8"/>
          <p:cNvSpPr>
            <a:spLocks noGrp="1"/>
          </p:cNvSpPr>
          <p:nvPr>
            <p:ph type="ftr" sz="quarter" idx="11"/>
          </p:nvPr>
        </p:nvSpPr>
        <p:spPr/>
        <p:txBody>
          <a:bodyPr/>
          <a:lstStyle>
            <a:lvl1pPr algn="r">
              <a:defRPr/>
            </a:lvl1pPr>
          </a:lstStyle>
          <a:p>
            <a:endParaRPr lang="en-US" dirty="0"/>
          </a:p>
        </p:txBody>
      </p:sp>
      <p:sp>
        <p:nvSpPr>
          <p:cNvPr id="11" name="Slide Number Placeholder 10"/>
          <p:cNvSpPr>
            <a:spLocks noGrp="1"/>
          </p:cNvSpPr>
          <p:nvPr>
            <p:ph type="sldNum" sz="quarter" idx="12"/>
          </p:nvPr>
        </p:nvSpPr>
        <p:spPr>
          <a:xfrm>
            <a:off x="10396728" y="6227064"/>
            <a:ext cx="1463040" cy="256032"/>
          </a:xfrm>
        </p:spPr>
        <p:txBody>
          <a:bodyPr/>
          <a:lstStyle/>
          <a:p>
            <a:fld id="{4FAB73BC-B049-4115-A692-8D63A059BFB8}" type="slidenum">
              <a:rPr lang="en-US" dirty="0"/>
              <a:pPr/>
              <a:t>‹#›</a:t>
            </a:fld>
            <a:endParaRPr lang="en-US" dirty="0"/>
          </a:p>
        </p:txBody>
      </p:sp>
      <p:sp>
        <p:nvSpPr>
          <p:cNvPr id="12" name="Rectangle 11"/>
          <p:cNvSpPr/>
          <p:nvPr/>
        </p:nvSpPr>
        <p:spPr>
          <a:xfrm>
            <a:off x="9157546" y="374904"/>
            <a:ext cx="2651760"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aşlıklı Resim">
    <p:spTree>
      <p:nvGrpSpPr>
        <p:cNvPr id="1" name=""/>
        <p:cNvGrpSpPr/>
        <p:nvPr/>
      </p:nvGrpSpPr>
      <p:grpSpPr>
        <a:xfrm>
          <a:off x="0" y="0"/>
          <a:ext cx="0" cy="0"/>
          <a:chOff x="0" y="0"/>
          <a:chExt cx="0" cy="0"/>
        </a:xfrm>
      </p:grpSpPr>
      <p:sp>
        <p:nvSpPr>
          <p:cNvPr id="14" name="Rectangle 13"/>
          <p:cNvSpPr/>
          <p:nvPr/>
        </p:nvSpPr>
        <p:spPr>
          <a:xfrm>
            <a:off x="9020386" y="237744"/>
            <a:ext cx="2926080" cy="63825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3504"/>
            <a:ext cx="2432304" cy="1645920"/>
          </a:xfrm>
        </p:spPr>
        <p:txBody>
          <a:bodyPr anchor="b">
            <a:noAutofit/>
          </a:bodyPr>
          <a:lstStyle>
            <a:lvl1pPr algn="l">
              <a:defRPr sz="2800" b="0">
                <a:solidFill>
                  <a:schemeClr val="tx1"/>
                </a:solidFill>
                <a:latin typeface="+mj-lt"/>
              </a:defRPr>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228599" y="237744"/>
            <a:ext cx="8531352" cy="6382512"/>
          </a:xfrm>
          <a:solidFill>
            <a:schemeClr val="accent6">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a:t>Resim eklemek için simgeye tıklayın</a:t>
            </a:r>
            <a:endParaRPr lang="en-US" dirty="0"/>
          </a:p>
        </p:txBody>
      </p:sp>
      <p:sp>
        <p:nvSpPr>
          <p:cNvPr id="4" name="Text Placeholder 3"/>
          <p:cNvSpPr>
            <a:spLocks noGrp="1"/>
          </p:cNvSpPr>
          <p:nvPr>
            <p:ph type="body" sz="half" idx="2"/>
          </p:nvPr>
        </p:nvSpPr>
        <p:spPr>
          <a:xfrm>
            <a:off x="9296400" y="2286000"/>
            <a:ext cx="2432304" cy="3502152"/>
          </a:xfrm>
        </p:spPr>
        <p:txBody>
          <a:bodyPr>
            <a:normAutofit/>
          </a:bodyPr>
          <a:lstStyle>
            <a:lvl1pPr marL="0" indent="0" algn="l">
              <a:lnSpc>
                <a:spcPct val="110000"/>
              </a:lnSpc>
              <a:spcBef>
                <a:spcPts val="800"/>
              </a:spcBef>
              <a:buNone/>
              <a:defRPr sz="14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lvl1pPr>
              <a:defRPr>
                <a:solidFill>
                  <a:srgbClr val="FFFFFF"/>
                </a:solidFill>
                <a:effectLst>
                  <a:outerShdw blurRad="19050" dist="6350" dir="2700000" algn="tl" rotWithShape="0">
                    <a:prstClr val="black">
                      <a:alpha val="40000"/>
                    </a:prstClr>
                  </a:outerShdw>
                </a:effectLst>
              </a:defRPr>
            </a:lvl1pPr>
          </a:lstStyle>
          <a:p>
            <a:fld id="{6C423185-9573-406A-8068-0AB4F2335019}" type="datetimeFigureOut">
              <a:rPr lang="en-US" dirty="0"/>
              <a:t>5/16/2022</a:t>
            </a:fld>
            <a:endParaRPr lang="en-US" dirty="0"/>
          </a:p>
        </p:txBody>
      </p:sp>
      <p:sp>
        <p:nvSpPr>
          <p:cNvPr id="6" name="Footer Placeholder 5"/>
          <p:cNvSpPr>
            <a:spLocks noGrp="1"/>
          </p:cNvSpPr>
          <p:nvPr>
            <p:ph type="ftr" sz="quarter" idx="11"/>
          </p:nvPr>
        </p:nvSpPr>
        <p:spPr/>
        <p:txBody>
          <a:bodyPr/>
          <a:lstStyle>
            <a:lvl1pPr marL="0" algn="r" defTabSz="914400" rtl="0" eaLnBrk="1" latinLnBrk="0" hangingPunct="1">
              <a:defRPr lang="en-US" sz="1000" kern="1200" dirty="0">
                <a:solidFill>
                  <a:srgbClr val="FFFFFF"/>
                </a:solidFill>
                <a:effectLst>
                  <a:outerShdw blurRad="19050" dist="6350" dir="2700000" algn="tl" rotWithShape="0">
                    <a:prstClr val="black">
                      <a:alpha val="40000"/>
                    </a:prstClr>
                  </a:outerShdw>
                </a:effectLst>
                <a:latin typeface="+mn-lt"/>
                <a:ea typeface="+mn-ea"/>
                <a:cs typeface="+mn-cs"/>
              </a:defRPr>
            </a:lvl1pPr>
          </a:lstStyle>
          <a:p>
            <a:endParaRPr lang="en-US" dirty="0"/>
          </a:p>
        </p:txBody>
      </p:sp>
      <p:sp>
        <p:nvSpPr>
          <p:cNvPr id="7" name="Slide Number Placeholder 6"/>
          <p:cNvSpPr>
            <a:spLocks noGrp="1"/>
          </p:cNvSpPr>
          <p:nvPr>
            <p:ph type="sldNum" sz="quarter" idx="12"/>
          </p:nvPr>
        </p:nvSpPr>
        <p:spPr>
          <a:xfrm>
            <a:off x="10396728" y="6227064"/>
            <a:ext cx="1463040" cy="256032"/>
          </a:xfrm>
        </p:spPr>
        <p:txBody>
          <a:bodyPr/>
          <a:lstStyle/>
          <a:p>
            <a:fld id="{4FAB73BC-B049-4115-A692-8D63A059BFB8}" type="slidenum">
              <a:rPr lang="en-US" dirty="0"/>
              <a:pPr/>
              <a:t>‹#›</a:t>
            </a:fld>
            <a:endParaRPr lang="en-US" dirty="0"/>
          </a:p>
        </p:txBody>
      </p:sp>
      <p:sp>
        <p:nvSpPr>
          <p:cNvPr id="10" name="Rectangle 9"/>
          <p:cNvSpPr/>
          <p:nvPr/>
        </p:nvSpPr>
        <p:spPr>
          <a:xfrm>
            <a:off x="9157546" y="374904"/>
            <a:ext cx="2651760"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Vertical Text Placeholder 2"/>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62598A19-B9D6-4696-A74D-9FEF900C8B6A}" type="datetimeFigureOut">
              <a:rPr lang="en-US" dirty="0"/>
              <a:t>5/16/2022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9A205100-39B0-4914-BBD6-34F267582565}" type="datetimeFigureOut">
              <a:rPr lang="en-US" dirty="0"/>
              <a:t>5/16/2022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234696" y="237744"/>
            <a:ext cx="11722608" cy="6382512"/>
          </a:xfrm>
          <a:prstGeom prst="rect">
            <a:avLst/>
          </a:prstGeom>
          <a:solidFill>
            <a:schemeClr val="bg2"/>
          </a:solidFill>
          <a:ln w="6350" cap="flat" cmpd="sng" algn="ctr">
            <a:noFill/>
            <a:prstDash val="solid"/>
          </a:ln>
          <a:effectLst>
            <a:softEdge rad="0"/>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tr-TR"/>
              <a:t>Asıl başlık stilini düzenlemek için tıklayın</a:t>
            </a:r>
            <a:endParaRPr lang="en-US" dirty="0"/>
          </a:p>
        </p:txBody>
      </p:sp>
      <p:sp>
        <p:nvSpPr>
          <p:cNvPr id="3" name="Text Placeholder 2"/>
          <p:cNvSpPr>
            <a:spLocks noGrp="1"/>
          </p:cNvSpPr>
          <p:nvPr>
            <p:ph type="body" idx="1"/>
          </p:nvPr>
        </p:nvSpPr>
        <p:spPr>
          <a:xfrm>
            <a:off x="1066800" y="2103120"/>
            <a:ext cx="10058400" cy="3931920"/>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a:off x="389464" y="6214535"/>
            <a:ext cx="2743200" cy="256032"/>
          </a:xfrm>
          <a:prstGeom prst="rect">
            <a:avLst/>
          </a:prstGeom>
        </p:spPr>
        <p:txBody>
          <a:bodyPr vert="horz" lIns="91440" tIns="45720" rIns="91440" bIns="45720" rtlCol="0" anchor="b"/>
          <a:lstStyle>
            <a:lvl1pPr algn="l">
              <a:defRPr sz="1000">
                <a:solidFill>
                  <a:schemeClr val="tx1">
                    <a:lumMod val="75000"/>
                    <a:lumOff val="25000"/>
                  </a:schemeClr>
                </a:solidFill>
              </a:defRPr>
            </a:lvl1pPr>
          </a:lstStyle>
          <a:p>
            <a:fld id="{6C5516DA-9D86-4E1E-A623-C11F9F74EB59}" type="datetimeFigureOut">
              <a:rPr lang="en-US" dirty="0"/>
              <a:t>5/16/2022</a:t>
            </a:fld>
            <a:endParaRPr lang="en-US" dirty="0"/>
          </a:p>
        </p:txBody>
      </p:sp>
      <p:sp>
        <p:nvSpPr>
          <p:cNvPr id="5" name="Footer Placeholder 4"/>
          <p:cNvSpPr>
            <a:spLocks noGrp="1"/>
          </p:cNvSpPr>
          <p:nvPr>
            <p:ph type="ftr" sz="quarter" idx="3"/>
          </p:nvPr>
        </p:nvSpPr>
        <p:spPr>
          <a:xfrm>
            <a:off x="3489960" y="6214535"/>
            <a:ext cx="5212080" cy="256032"/>
          </a:xfrm>
          <a:prstGeom prst="rect">
            <a:avLst/>
          </a:prstGeom>
        </p:spPr>
        <p:txBody>
          <a:bodyPr vert="horz" lIns="91440" tIns="45720" rIns="91440" bIns="45720" rtlCol="0" anchor="b"/>
          <a:lstStyle>
            <a:lvl1pPr algn="ctr">
              <a:defRPr sz="1000">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348535" y="6214535"/>
            <a:ext cx="1463040" cy="256032"/>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4FAB73BC-B049-4115-A692-8D63A059BFB8}" type="slidenum">
              <a:rPr lang="en-US" dirty="0"/>
              <a:pPr/>
              <a:t>‹#›</a:t>
            </a:fld>
            <a:endParaRPr lang="en-US" dirty="0"/>
          </a:p>
        </p:txBody>
      </p:sp>
      <p:sp>
        <p:nvSpPr>
          <p:cNvPr id="8" name="Rectangle 7"/>
          <p:cNvSpPr/>
          <p:nvPr/>
        </p:nvSpPr>
        <p:spPr>
          <a:xfrm>
            <a:off x="371856" y="374904"/>
            <a:ext cx="11448288" cy="6108192"/>
          </a:xfrm>
          <a:prstGeom prst="rect">
            <a:avLst/>
          </a:prstGeom>
          <a:noFill/>
          <a:ln w="6350" cap="sq" cmpd="sng" algn="ctr">
            <a:solidFill>
              <a:schemeClr val="tx1">
                <a:lumMod val="75000"/>
                <a:lumOff val="25000"/>
              </a:schemeClr>
            </a:solidFill>
            <a:prstDash val="solid"/>
            <a:miter lim="800000"/>
          </a:ln>
          <a:effectLst/>
        </p:spPr>
      </p:sp>
    </p:spTree>
  </p:cSld>
  <p:clrMap bg1="lt1" tx1="dk1" bg2="lt2" tx2="dk2" accent1="accent1" accent2="accent2" accent3="accent3" accent4="accent4" accent5="accent5" accent6="accent6" hlink="hlink" folHlink="folHlink"/>
  <p:sldLayoutIdLst>
    <p:sldLayoutId id="2147483769" r:id="rId1"/>
    <p:sldLayoutId id="2147483770" r:id="rId2"/>
    <p:sldLayoutId id="2147483771" r:id="rId3"/>
    <p:sldLayoutId id="2147483772" r:id="rId4"/>
    <p:sldLayoutId id="2147483773" r:id="rId5"/>
    <p:sldLayoutId id="2147483774" r:id="rId6"/>
    <p:sldLayoutId id="2147483775" r:id="rId7"/>
    <p:sldLayoutId id="2147483776" r:id="rId8"/>
    <p:sldLayoutId id="2147483777" r:id="rId9"/>
    <p:sldLayoutId id="2147483778" r:id="rId10"/>
    <p:sldLayoutId id="2147483779" r:id="rId11"/>
  </p:sldLayoutIdLst>
  <p:transition spd="slow">
    <p:push dir="u"/>
  </p:transition>
  <p:hf sldNum="0" hdr="0" ftr="0" dt="0"/>
  <p:txStyles>
    <p:titleStyle>
      <a:lvl1pPr algn="l" defTabSz="914400" rtl="0" eaLnBrk="1" latinLnBrk="0" hangingPunct="1">
        <a:lnSpc>
          <a:spcPct val="90000"/>
        </a:lnSpc>
        <a:spcBef>
          <a:spcPct val="0"/>
        </a:spcBef>
        <a:buNone/>
        <a:defRPr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1">
            <a:lumMod val="85000"/>
            <a:lumOff val="15000"/>
          </a:schemeClr>
        </a:buClr>
        <a:buFont typeface="Garamond" pitchFamily="18" charset="0"/>
        <a:buChar char="◦"/>
        <a:defRPr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D6E22BE-28B4-4E37-9E55-735E5B61AA5A}"/>
              </a:ext>
            </a:extLst>
          </p:cNvPr>
          <p:cNvSpPr>
            <a:spLocks noGrp="1"/>
          </p:cNvSpPr>
          <p:nvPr>
            <p:ph type="ctrTitle"/>
          </p:nvPr>
        </p:nvSpPr>
        <p:spPr/>
        <p:txBody>
          <a:bodyPr/>
          <a:lstStyle/>
          <a:p>
            <a:r>
              <a:rPr lang="tr-TR" sz="6600" dirty="0"/>
              <a:t>ALLAH’IN VARLIĞI VE VARLIĞINA DELALET EDEN DELILLERI</a:t>
            </a:r>
          </a:p>
        </p:txBody>
      </p:sp>
    </p:spTree>
    <p:extLst>
      <p:ext uri="{BB962C8B-B14F-4D97-AF65-F5344CB8AC3E}">
        <p14:creationId xmlns:p14="http://schemas.microsoft.com/office/powerpoint/2010/main" val="2886896334"/>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7ADC2F5-A359-411F-B65E-AD1EE990904C}"/>
              </a:ext>
            </a:extLst>
          </p:cNvPr>
          <p:cNvSpPr>
            <a:spLocks noGrp="1"/>
          </p:cNvSpPr>
          <p:nvPr>
            <p:ph type="title"/>
          </p:nvPr>
        </p:nvSpPr>
        <p:spPr/>
        <p:txBody>
          <a:bodyPr/>
          <a:lstStyle/>
          <a:p>
            <a:r>
              <a:rPr lang="tr-TR" b="1" dirty="0"/>
              <a:t>İlerleyiş Şeması</a:t>
            </a:r>
          </a:p>
        </p:txBody>
      </p:sp>
      <p:graphicFrame>
        <p:nvGraphicFramePr>
          <p:cNvPr id="4" name="İçerik Yer Tutucusu 3">
            <a:extLst>
              <a:ext uri="{FF2B5EF4-FFF2-40B4-BE49-F238E27FC236}">
                <a16:creationId xmlns:a16="http://schemas.microsoft.com/office/drawing/2014/main" id="{0033A79B-6E1B-4D36-B9CC-219B0C6F3FEB}"/>
              </a:ext>
            </a:extLst>
          </p:cNvPr>
          <p:cNvGraphicFramePr>
            <a:graphicFrameLocks noGrp="1"/>
          </p:cNvGraphicFramePr>
          <p:nvPr>
            <p:ph idx="1"/>
            <p:extLst>
              <p:ext uri="{D42A27DB-BD31-4B8C-83A1-F6EECF244321}">
                <p14:modId xmlns:p14="http://schemas.microsoft.com/office/powerpoint/2010/main" val="1507126007"/>
              </p:ext>
            </p:extLst>
          </p:nvPr>
        </p:nvGraphicFramePr>
        <p:xfrm>
          <a:off x="890751" y="1947340"/>
          <a:ext cx="10410497" cy="41119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7764347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7DBA70E-2A8C-44C6-967A-EB1F7E8AD7A2}"/>
              </a:ext>
            </a:extLst>
          </p:cNvPr>
          <p:cNvSpPr>
            <a:spLocks noGrp="1"/>
          </p:cNvSpPr>
          <p:nvPr>
            <p:ph type="title"/>
          </p:nvPr>
        </p:nvSpPr>
        <p:spPr/>
        <p:txBody>
          <a:bodyPr>
            <a:normAutofit/>
          </a:bodyPr>
          <a:lstStyle/>
          <a:p>
            <a:r>
              <a:rPr lang="tr-TR" sz="4200" b="1" dirty="0"/>
              <a:t>Allah’ın Delillerine Neden İhtiyaç Duyarız?</a:t>
            </a:r>
          </a:p>
        </p:txBody>
      </p:sp>
      <p:sp>
        <p:nvSpPr>
          <p:cNvPr id="3" name="İçerik Yer Tutucusu 2">
            <a:extLst>
              <a:ext uri="{FF2B5EF4-FFF2-40B4-BE49-F238E27FC236}">
                <a16:creationId xmlns:a16="http://schemas.microsoft.com/office/drawing/2014/main" id="{BF897523-9F0F-4568-98FD-EFA40BAB5715}"/>
              </a:ext>
            </a:extLst>
          </p:cNvPr>
          <p:cNvSpPr>
            <a:spLocks noGrp="1"/>
          </p:cNvSpPr>
          <p:nvPr>
            <p:ph idx="1"/>
          </p:nvPr>
        </p:nvSpPr>
        <p:spPr/>
        <p:txBody>
          <a:bodyPr>
            <a:normAutofit lnSpcReduction="10000"/>
          </a:bodyPr>
          <a:lstStyle/>
          <a:p>
            <a:r>
              <a:rPr lang="tr-TR" sz="2800" dirty="0"/>
              <a:t>Gerek </a:t>
            </a:r>
            <a:r>
              <a:rPr lang="tr-TR" sz="2800" b="1" dirty="0" err="1"/>
              <a:t>teist</a:t>
            </a:r>
            <a:r>
              <a:rPr lang="tr-TR" sz="2800" dirty="0"/>
              <a:t> gerekse </a:t>
            </a:r>
            <a:r>
              <a:rPr lang="tr-TR" sz="2800" b="1" dirty="0"/>
              <a:t>ateist</a:t>
            </a:r>
            <a:r>
              <a:rPr lang="tr-TR" sz="2800" dirty="0"/>
              <a:t> düşünürler Tanrının varlığına inanmak yada inanmamak için delillere gerek olup olmadığı hususunda ciddi tartışmalar yapmışlardır.</a:t>
            </a:r>
          </a:p>
          <a:p>
            <a:r>
              <a:rPr lang="tr-TR" sz="2800" dirty="0"/>
              <a:t>İnsanın inandığı şeyin lehinde kanıt getirmeye çalışması da bir anlamda onun </a:t>
            </a:r>
            <a:r>
              <a:rPr lang="tr-TR" sz="2800" b="1" dirty="0"/>
              <a:t>şüphe içerisinde olduğu </a:t>
            </a:r>
            <a:r>
              <a:rPr lang="tr-TR" sz="2800" dirty="0"/>
              <a:t>izlenimini vermektedir.</a:t>
            </a:r>
          </a:p>
          <a:p>
            <a:r>
              <a:rPr lang="tr-TR" sz="2800" dirty="0"/>
              <a:t>Tanrının varlığına inanan kişilere göre Tanrının varlığı konusunda ortaya konan kanıtlar sadece </a:t>
            </a:r>
            <a:r>
              <a:rPr lang="tr-TR" sz="2800" b="1" dirty="0"/>
              <a:t>ateistlerin meydan okumaları </a:t>
            </a:r>
            <a:r>
              <a:rPr lang="tr-TR" sz="2800" dirty="0"/>
              <a:t>karşısında ileri sürülmüştür. </a:t>
            </a:r>
          </a:p>
          <a:p>
            <a:r>
              <a:rPr lang="tr-TR" sz="2800" dirty="0"/>
              <a:t>Başlıklar ışığında inceleyecek olursak;</a:t>
            </a:r>
          </a:p>
          <a:p>
            <a:endParaRPr lang="tr-TR" dirty="0"/>
          </a:p>
        </p:txBody>
      </p:sp>
    </p:spTree>
    <p:extLst>
      <p:ext uri="{BB962C8B-B14F-4D97-AF65-F5344CB8AC3E}">
        <p14:creationId xmlns:p14="http://schemas.microsoft.com/office/powerpoint/2010/main" val="46602317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FFAD20C-3863-4CDC-931C-E26081A0B12A}"/>
              </a:ext>
            </a:extLst>
          </p:cNvPr>
          <p:cNvSpPr>
            <a:spLocks noGrp="1"/>
          </p:cNvSpPr>
          <p:nvPr>
            <p:ph type="title"/>
          </p:nvPr>
        </p:nvSpPr>
        <p:spPr/>
        <p:txBody>
          <a:bodyPr/>
          <a:lstStyle/>
          <a:p>
            <a:r>
              <a:rPr lang="tr-TR" b="1" dirty="0"/>
              <a:t>1) İnsan Fıtratı</a:t>
            </a:r>
          </a:p>
        </p:txBody>
      </p:sp>
      <p:sp>
        <p:nvSpPr>
          <p:cNvPr id="3" name="İçerik Yer Tutucusu 2">
            <a:extLst>
              <a:ext uri="{FF2B5EF4-FFF2-40B4-BE49-F238E27FC236}">
                <a16:creationId xmlns:a16="http://schemas.microsoft.com/office/drawing/2014/main" id="{26050D81-F62C-4526-AD32-4BC96ED6B55A}"/>
              </a:ext>
            </a:extLst>
          </p:cNvPr>
          <p:cNvSpPr>
            <a:spLocks noGrp="1"/>
          </p:cNvSpPr>
          <p:nvPr>
            <p:ph idx="1"/>
          </p:nvPr>
        </p:nvSpPr>
        <p:spPr/>
        <p:txBody>
          <a:bodyPr>
            <a:normAutofit/>
          </a:bodyPr>
          <a:lstStyle/>
          <a:p>
            <a:pPr algn="just" eaLnBrk="1" fontAlgn="auto" hangingPunct="1">
              <a:spcAft>
                <a:spcPts val="0"/>
              </a:spcAft>
              <a:defRPr/>
            </a:pPr>
            <a:r>
              <a:rPr lang="tr-TR" sz="3600" dirty="0"/>
              <a:t>İnsanlar </a:t>
            </a:r>
            <a:r>
              <a:rPr lang="tr-TR" sz="3600" b="1" dirty="0"/>
              <a:t>doğuştan</a:t>
            </a:r>
            <a:r>
              <a:rPr lang="tr-TR" sz="3600" dirty="0"/>
              <a:t> </a:t>
            </a:r>
            <a:r>
              <a:rPr lang="tr-TR" sz="3600" b="1" dirty="0"/>
              <a:t>inanç potansiyeline sahip </a:t>
            </a:r>
            <a:r>
              <a:rPr lang="tr-TR" sz="3600" dirty="0"/>
              <a:t>yaratılmış varlıklardır.</a:t>
            </a:r>
          </a:p>
          <a:p>
            <a:pPr algn="just" eaLnBrk="1" fontAlgn="auto" hangingPunct="1">
              <a:spcAft>
                <a:spcPts val="0"/>
              </a:spcAft>
              <a:defRPr/>
            </a:pPr>
            <a:r>
              <a:rPr lang="tr-TR" sz="3600" dirty="0"/>
              <a:t>Doğal olarak insanoğlu yaratıcısının nasıl olduğunu merak eder, onu bilmek ister, kendince ve inandığı dinin ona verdikleriyle yaratıcısının varlığını </a:t>
            </a:r>
            <a:r>
              <a:rPr lang="tr-TR" sz="3600" dirty="0" err="1"/>
              <a:t>delillendirmeye</a:t>
            </a:r>
            <a:r>
              <a:rPr lang="tr-TR" sz="3600" dirty="0"/>
              <a:t> çalışır.</a:t>
            </a:r>
          </a:p>
        </p:txBody>
      </p:sp>
    </p:spTree>
    <p:extLst>
      <p:ext uri="{BB962C8B-B14F-4D97-AF65-F5344CB8AC3E}">
        <p14:creationId xmlns:p14="http://schemas.microsoft.com/office/powerpoint/2010/main" val="1323130361"/>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9DCCD23-C92E-4B5C-90DC-145BED07BBDB}"/>
              </a:ext>
            </a:extLst>
          </p:cNvPr>
          <p:cNvSpPr>
            <a:spLocks noGrp="1"/>
          </p:cNvSpPr>
          <p:nvPr>
            <p:ph type="title"/>
          </p:nvPr>
        </p:nvSpPr>
        <p:spPr/>
        <p:txBody>
          <a:bodyPr/>
          <a:lstStyle/>
          <a:p>
            <a:r>
              <a:rPr lang="tr-TR" b="1" dirty="0"/>
              <a:t>2) İslam Coğrafyasının Genişlemesi</a:t>
            </a:r>
          </a:p>
        </p:txBody>
      </p:sp>
      <p:sp>
        <p:nvSpPr>
          <p:cNvPr id="3" name="İçerik Yer Tutucusu 2">
            <a:extLst>
              <a:ext uri="{FF2B5EF4-FFF2-40B4-BE49-F238E27FC236}">
                <a16:creationId xmlns:a16="http://schemas.microsoft.com/office/drawing/2014/main" id="{E1B1F7D0-A074-48AB-8110-508CDF14997B}"/>
              </a:ext>
            </a:extLst>
          </p:cNvPr>
          <p:cNvSpPr>
            <a:spLocks noGrp="1"/>
          </p:cNvSpPr>
          <p:nvPr>
            <p:ph idx="1"/>
          </p:nvPr>
        </p:nvSpPr>
        <p:spPr/>
        <p:txBody>
          <a:bodyPr>
            <a:normAutofit/>
          </a:bodyPr>
          <a:lstStyle/>
          <a:p>
            <a:r>
              <a:rPr lang="tr-TR" sz="2800" dirty="0"/>
              <a:t>Müslümanlar ilk Halife Hz. Ebubekir döneminden itibaren Arap Yarımadasından dışarı çıkmaya başlamışlardı.</a:t>
            </a:r>
          </a:p>
          <a:p>
            <a:r>
              <a:rPr lang="tr-TR" sz="2800" b="1" dirty="0"/>
              <a:t>İslam coğrafyasının hızla genişlemesiyle</a:t>
            </a:r>
            <a:r>
              <a:rPr lang="tr-TR" sz="2800" dirty="0"/>
              <a:t> bu durum yaygınlaşmıştı.</a:t>
            </a:r>
          </a:p>
          <a:p>
            <a:r>
              <a:rPr lang="tr-TR" sz="2800" dirty="0"/>
              <a:t>İslam coğrafyasının genişlemesiyle Müslümanlar Eski Yunan, Hint ve İskenderiye’den gelen çeşitli görüş ve inanışlara sahip insanları, </a:t>
            </a:r>
            <a:r>
              <a:rPr lang="tr-TR" sz="2800" b="1" dirty="0"/>
              <a:t>toplulukları yönetimi altına almıştı</a:t>
            </a:r>
            <a:r>
              <a:rPr lang="tr-TR" sz="2800" dirty="0"/>
              <a:t>.</a:t>
            </a:r>
          </a:p>
          <a:p>
            <a:r>
              <a:rPr lang="tr-TR" sz="2800" dirty="0"/>
              <a:t>Bu geniş coğrafyada Tanrı tanımaz (</a:t>
            </a:r>
            <a:r>
              <a:rPr lang="tr-TR" sz="2800" dirty="0" err="1"/>
              <a:t>dehriyye</a:t>
            </a:r>
            <a:r>
              <a:rPr lang="tr-TR" sz="2800" dirty="0"/>
              <a:t>), yani </a:t>
            </a:r>
            <a:r>
              <a:rPr lang="tr-TR" sz="2800" b="1" dirty="0"/>
              <a:t>birçok inkarcı bulunmaktaydı.</a:t>
            </a:r>
          </a:p>
          <a:p>
            <a:endParaRPr lang="tr-TR" dirty="0"/>
          </a:p>
        </p:txBody>
      </p:sp>
    </p:spTree>
    <p:extLst>
      <p:ext uri="{BB962C8B-B14F-4D97-AF65-F5344CB8AC3E}">
        <p14:creationId xmlns:p14="http://schemas.microsoft.com/office/powerpoint/2010/main" val="406633442"/>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2D2105D-2AEF-4490-80F4-AE1220FAEE44}"/>
              </a:ext>
            </a:extLst>
          </p:cNvPr>
          <p:cNvSpPr>
            <a:spLocks noGrp="1"/>
          </p:cNvSpPr>
          <p:nvPr>
            <p:ph type="title"/>
          </p:nvPr>
        </p:nvSpPr>
        <p:spPr/>
        <p:txBody>
          <a:bodyPr>
            <a:normAutofit fontScale="90000"/>
          </a:bodyPr>
          <a:lstStyle/>
          <a:p>
            <a:r>
              <a:rPr lang="tr-TR" b="1" dirty="0"/>
              <a:t>3) Ateist Fikir Akımlarının Ortaya Çıkması</a:t>
            </a:r>
          </a:p>
        </p:txBody>
      </p:sp>
      <p:sp>
        <p:nvSpPr>
          <p:cNvPr id="3" name="İçerik Yer Tutucusu 2">
            <a:extLst>
              <a:ext uri="{FF2B5EF4-FFF2-40B4-BE49-F238E27FC236}">
                <a16:creationId xmlns:a16="http://schemas.microsoft.com/office/drawing/2014/main" id="{DA6B237E-EE07-4630-A261-B6130230347C}"/>
              </a:ext>
            </a:extLst>
          </p:cNvPr>
          <p:cNvSpPr>
            <a:spLocks noGrp="1"/>
          </p:cNvSpPr>
          <p:nvPr>
            <p:ph idx="1"/>
          </p:nvPr>
        </p:nvSpPr>
        <p:spPr/>
        <p:txBody>
          <a:bodyPr>
            <a:normAutofit/>
          </a:bodyPr>
          <a:lstStyle/>
          <a:p>
            <a:r>
              <a:rPr lang="tr-TR" sz="2400" dirty="0"/>
              <a:t>19 yy. </a:t>
            </a:r>
            <a:r>
              <a:rPr lang="tr-TR" sz="2400" dirty="0" err="1"/>
              <a:t>metaryalist</a:t>
            </a:r>
            <a:r>
              <a:rPr lang="tr-TR" sz="2400" dirty="0"/>
              <a:t> ve pozitivist düşüncenin hayatın her alanını hakimiyeti altına alan bir asır olmuştur.</a:t>
            </a:r>
          </a:p>
          <a:p>
            <a:endParaRPr lang="tr-TR" sz="2400" dirty="0"/>
          </a:p>
          <a:p>
            <a:r>
              <a:rPr lang="tr-TR" sz="2400" dirty="0"/>
              <a:t>Son asırda yeniden canlanmaya başlayan materyalizm ve Pozitivizm ortaya çıkışı.</a:t>
            </a:r>
          </a:p>
          <a:p>
            <a:pPr marL="0" indent="0">
              <a:buNone/>
            </a:pPr>
            <a:endParaRPr lang="tr-TR" dirty="0"/>
          </a:p>
          <a:p>
            <a:pPr marL="0" indent="0">
              <a:buNone/>
            </a:pPr>
            <a:r>
              <a:rPr lang="tr-TR" b="1" dirty="0"/>
              <a:t>EK BİLGİ</a:t>
            </a:r>
          </a:p>
          <a:p>
            <a:pPr marL="0" indent="0">
              <a:buNone/>
            </a:pPr>
            <a:r>
              <a:rPr lang="tr-TR" sz="1400" dirty="0"/>
              <a:t>MATERYALİZM: Var olan her şeyin maddeden ibaret olduğunu, maddeden bağımsız fizik ötesi bir alanın (metafizik) bulunmadığını, bilinç, duygu, düşünce vb. unsurların </a:t>
            </a:r>
            <a:r>
              <a:rPr lang="tr-TR" sz="1400" b="1" dirty="0"/>
              <a:t>maddeden kaynaklandığını</a:t>
            </a:r>
            <a:r>
              <a:rPr lang="tr-TR" sz="1400" dirty="0"/>
              <a:t>, olup biten her şeyin sadece maddî sebeplerle açıklanabileceğini, sonuç olarak tabiat üstü bir gücün mevcut olmadığını ileri süren, özünde tanrıtanımaz doktrinler bütününe verilen addır. </a:t>
            </a:r>
          </a:p>
          <a:p>
            <a:pPr marL="0" indent="0">
              <a:buNone/>
            </a:pPr>
            <a:r>
              <a:rPr lang="tr-TR" sz="1400" dirty="0"/>
              <a:t>POZİTİVİZM: Terim, </a:t>
            </a:r>
            <a:r>
              <a:rPr lang="tr-TR" sz="1400" dirty="0" err="1"/>
              <a:t>Fransızca’d.a</a:t>
            </a:r>
            <a:r>
              <a:rPr lang="tr-TR" sz="1400" dirty="0"/>
              <a:t> “gerçek, olgu, kesin, kanıtlanmış, olumlu” gibi anlamlara gelen </a:t>
            </a:r>
            <a:r>
              <a:rPr lang="tr-TR" sz="1400" b="1" dirty="0" err="1"/>
              <a:t>positif</a:t>
            </a:r>
            <a:r>
              <a:rPr lang="tr-TR" sz="1400" dirty="0"/>
              <a:t> kelimesinden türetilmiştir</a:t>
            </a:r>
          </a:p>
        </p:txBody>
      </p:sp>
    </p:spTree>
    <p:extLst>
      <p:ext uri="{BB962C8B-B14F-4D97-AF65-F5344CB8AC3E}">
        <p14:creationId xmlns:p14="http://schemas.microsoft.com/office/powerpoint/2010/main" val="1178342148"/>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3A1EA71-A7A1-472D-945B-D4AFB8CF1908}"/>
              </a:ext>
            </a:extLst>
          </p:cNvPr>
          <p:cNvSpPr>
            <a:spLocks noGrp="1"/>
          </p:cNvSpPr>
          <p:nvPr>
            <p:ph type="title"/>
          </p:nvPr>
        </p:nvSpPr>
        <p:spPr/>
        <p:txBody>
          <a:bodyPr>
            <a:normAutofit/>
          </a:bodyPr>
          <a:lstStyle/>
          <a:p>
            <a:r>
              <a:rPr lang="tr-TR" sz="4800" b="1" dirty="0"/>
              <a:t>Allah’ın Delillerine Yönelik Ayetler</a:t>
            </a:r>
            <a:endParaRPr lang="tr-TR" b="1" dirty="0"/>
          </a:p>
        </p:txBody>
      </p:sp>
      <p:sp>
        <p:nvSpPr>
          <p:cNvPr id="3" name="İçerik Yer Tutucusu 2">
            <a:extLst>
              <a:ext uri="{FF2B5EF4-FFF2-40B4-BE49-F238E27FC236}">
                <a16:creationId xmlns:a16="http://schemas.microsoft.com/office/drawing/2014/main" id="{1B79ED59-53F3-4D6A-A1DF-180DDD3FD14A}"/>
              </a:ext>
            </a:extLst>
          </p:cNvPr>
          <p:cNvSpPr>
            <a:spLocks noGrp="1"/>
          </p:cNvSpPr>
          <p:nvPr>
            <p:ph idx="1"/>
          </p:nvPr>
        </p:nvSpPr>
        <p:spPr/>
        <p:txBody>
          <a:bodyPr>
            <a:normAutofit lnSpcReduction="10000"/>
          </a:bodyPr>
          <a:lstStyle/>
          <a:p>
            <a:r>
              <a:rPr lang="tr-TR" dirty="0"/>
              <a:t>Göklerde ve yerde Allah’ın varlığını, birliğini ve kudretini gösteren öyle deliller var ki! Onlar, bu delillerle sürekli iç içe, yan yana bulunurlar, fakat üzerinde hiç düşünmeden tam bir aldırmazlık içinde onlardan yüz çevirirler!</a:t>
            </a:r>
            <a:br>
              <a:rPr lang="tr-TR" dirty="0"/>
            </a:br>
            <a:r>
              <a:rPr lang="tr-TR" dirty="0"/>
              <a:t>(Yusuf, 105)</a:t>
            </a:r>
          </a:p>
          <a:p>
            <a:pPr marL="0" indent="0">
              <a:buNone/>
            </a:pPr>
            <a:endParaRPr lang="tr-TR" dirty="0"/>
          </a:p>
          <a:p>
            <a:r>
              <a:rPr lang="tr-TR" dirty="0"/>
              <a:t>Gecenin gelişi de onlar için Allah’ın birliğini gösteren bir delildir. Gündüzü ondan soyup çıkarırız da birden karanlığa </a:t>
            </a:r>
            <a:r>
              <a:rPr lang="tr-TR" dirty="0" err="1"/>
              <a:t>gömülüverirler</a:t>
            </a:r>
            <a:r>
              <a:rPr lang="tr-TR" dirty="0"/>
              <a:t>. Onlar için bir başka delil olan güneş, kendine ait yörüngesinde belli bir kanuna göre akıp gider. İşte bu, kudreti </a:t>
            </a:r>
            <a:r>
              <a:rPr lang="tr-TR" dirty="0" err="1"/>
              <a:t>dâimâ</a:t>
            </a:r>
            <a:r>
              <a:rPr lang="tr-TR" dirty="0"/>
              <a:t> üstün gelen ve her şeyi en iyi bilen Allah’ın takdiridir.</a:t>
            </a:r>
            <a:br>
              <a:rPr lang="tr-TR" dirty="0"/>
            </a:br>
            <a:r>
              <a:rPr lang="tr-TR" dirty="0"/>
              <a:t>(Yasin, 37 - 38)</a:t>
            </a:r>
          </a:p>
          <a:p>
            <a:pPr marL="0" indent="0">
              <a:buNone/>
            </a:pPr>
            <a:endParaRPr lang="tr-TR" dirty="0"/>
          </a:p>
          <a:p>
            <a:r>
              <a:rPr lang="tr-TR" dirty="0"/>
              <a:t>Geceyle gündüz, güneş ve ay Allah’ın birliğini ve kudretini gösteren delillerdendir. Siz güneşe de aya da secde etmeyin; her şeyi olduğu gibi bunları da yaratan Allah’a secde edin, eğer sadece O’na kulluk yapacaksanız.</a:t>
            </a:r>
            <a:br>
              <a:rPr lang="tr-TR" dirty="0"/>
            </a:br>
            <a:r>
              <a:rPr lang="tr-TR" dirty="0"/>
              <a:t>(</a:t>
            </a:r>
            <a:r>
              <a:rPr lang="tr-TR" dirty="0" err="1"/>
              <a:t>Fussilet</a:t>
            </a:r>
            <a:r>
              <a:rPr lang="tr-TR" dirty="0"/>
              <a:t>, 37)</a:t>
            </a:r>
          </a:p>
          <a:p>
            <a:endParaRPr lang="tr-TR" dirty="0"/>
          </a:p>
          <a:p>
            <a:endParaRPr lang="tr-TR" dirty="0"/>
          </a:p>
        </p:txBody>
      </p:sp>
    </p:spTree>
    <p:extLst>
      <p:ext uri="{BB962C8B-B14F-4D97-AF65-F5344CB8AC3E}">
        <p14:creationId xmlns:p14="http://schemas.microsoft.com/office/powerpoint/2010/main" val="2161623448"/>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2D2FF96E-A8AA-4CDA-9EEF-0C92AD8FD1F3}"/>
              </a:ext>
            </a:extLst>
          </p:cNvPr>
          <p:cNvSpPr>
            <a:spLocks noGrp="1"/>
          </p:cNvSpPr>
          <p:nvPr>
            <p:ph type="title"/>
          </p:nvPr>
        </p:nvSpPr>
        <p:spPr/>
        <p:txBody>
          <a:bodyPr/>
          <a:lstStyle/>
          <a:p>
            <a:r>
              <a:rPr lang="tr-TR" dirty="0"/>
              <a:t>Deliller ve Tanımlamaları</a:t>
            </a:r>
          </a:p>
        </p:txBody>
      </p:sp>
      <p:sp>
        <p:nvSpPr>
          <p:cNvPr id="3" name="İçerik Yer Tutucusu 2">
            <a:extLst>
              <a:ext uri="{FF2B5EF4-FFF2-40B4-BE49-F238E27FC236}">
                <a16:creationId xmlns:a16="http://schemas.microsoft.com/office/drawing/2014/main" id="{01026901-2C72-4F03-A83F-2A2FBB590972}"/>
              </a:ext>
            </a:extLst>
          </p:cNvPr>
          <p:cNvSpPr>
            <a:spLocks noGrp="1"/>
          </p:cNvSpPr>
          <p:nvPr>
            <p:ph idx="1"/>
          </p:nvPr>
        </p:nvSpPr>
        <p:spPr/>
        <p:txBody>
          <a:bodyPr>
            <a:normAutofit fontScale="92500" lnSpcReduction="20000"/>
          </a:bodyPr>
          <a:lstStyle/>
          <a:p>
            <a:r>
              <a:rPr lang="tr-TR" sz="3600" b="1" dirty="0"/>
              <a:t>Sırf akıldan çıkarılan deliller</a:t>
            </a:r>
            <a:r>
              <a:rPr lang="tr-TR" sz="3600" dirty="0"/>
              <a:t>:</a:t>
            </a:r>
            <a:br>
              <a:rPr lang="tr-TR" sz="3600" dirty="0"/>
            </a:br>
            <a:r>
              <a:rPr lang="tr-TR" sz="3600" dirty="0"/>
              <a:t>Ontolojik Delil</a:t>
            </a:r>
          </a:p>
          <a:p>
            <a:endParaRPr lang="tr-TR" sz="3600" dirty="0"/>
          </a:p>
          <a:p>
            <a:r>
              <a:rPr lang="tr-TR" sz="3600" b="1" dirty="0"/>
              <a:t>Dış âlemden çıkarılan deliller</a:t>
            </a:r>
            <a:r>
              <a:rPr lang="tr-TR" sz="3600" dirty="0"/>
              <a:t>:</a:t>
            </a:r>
            <a:br>
              <a:rPr lang="tr-TR" sz="3600" dirty="0"/>
            </a:br>
            <a:r>
              <a:rPr lang="tr-TR" sz="3600" dirty="0"/>
              <a:t>Kozmolojik &amp; Teolojik Delil</a:t>
            </a:r>
          </a:p>
          <a:p>
            <a:endParaRPr lang="tr-TR" sz="3600" dirty="0"/>
          </a:p>
          <a:p>
            <a:r>
              <a:rPr lang="tr-TR" sz="3600" b="1" dirty="0"/>
              <a:t>İnsanın manevi ve ruhi âleminden çıkarılan deliller</a:t>
            </a:r>
            <a:r>
              <a:rPr lang="tr-TR" sz="3600" dirty="0"/>
              <a:t>:</a:t>
            </a:r>
            <a:br>
              <a:rPr lang="tr-TR" sz="3600" dirty="0"/>
            </a:br>
            <a:r>
              <a:rPr lang="tr-TR" sz="3600" dirty="0"/>
              <a:t>Dini Tecrübe &amp; Ahlak Delili</a:t>
            </a:r>
          </a:p>
        </p:txBody>
      </p:sp>
    </p:spTree>
    <p:extLst>
      <p:ext uri="{BB962C8B-B14F-4D97-AF65-F5344CB8AC3E}">
        <p14:creationId xmlns:p14="http://schemas.microsoft.com/office/powerpoint/2010/main" val="1040285032"/>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3C41554-93C0-4514-9C62-1D920CE16BC6}"/>
              </a:ext>
            </a:extLst>
          </p:cNvPr>
          <p:cNvSpPr>
            <a:spLocks noGrp="1"/>
          </p:cNvSpPr>
          <p:nvPr>
            <p:ph type="title"/>
          </p:nvPr>
        </p:nvSpPr>
        <p:spPr/>
        <p:txBody>
          <a:bodyPr/>
          <a:lstStyle/>
          <a:p>
            <a:r>
              <a:rPr lang="tr-TR" b="1" dirty="0"/>
              <a:t>Ontolojik Delil</a:t>
            </a:r>
          </a:p>
        </p:txBody>
      </p:sp>
      <p:sp>
        <p:nvSpPr>
          <p:cNvPr id="3" name="İçerik Yer Tutucusu 2">
            <a:extLst>
              <a:ext uri="{FF2B5EF4-FFF2-40B4-BE49-F238E27FC236}">
                <a16:creationId xmlns:a16="http://schemas.microsoft.com/office/drawing/2014/main" id="{8B9543C2-B11B-4C7A-9B6B-4CC9EB9E23A6}"/>
              </a:ext>
            </a:extLst>
          </p:cNvPr>
          <p:cNvSpPr>
            <a:spLocks noGrp="1"/>
          </p:cNvSpPr>
          <p:nvPr>
            <p:ph idx="1"/>
          </p:nvPr>
        </p:nvSpPr>
        <p:spPr/>
        <p:txBody>
          <a:bodyPr>
            <a:normAutofit/>
          </a:bodyPr>
          <a:lstStyle/>
          <a:p>
            <a:r>
              <a:rPr lang="tr-TR" sz="2800" dirty="0"/>
              <a:t>İnsanda bulunan </a:t>
            </a:r>
            <a:r>
              <a:rPr lang="tr-TR" sz="2800" b="1" dirty="0"/>
              <a:t>Mükemmel Varlık / </a:t>
            </a:r>
            <a:r>
              <a:rPr lang="tr-TR" sz="2800" b="1" dirty="0" err="1"/>
              <a:t>Ekmel</a:t>
            </a:r>
            <a:r>
              <a:rPr lang="tr-TR" sz="2800" b="1" dirty="0"/>
              <a:t> Varlık </a:t>
            </a:r>
            <a:r>
              <a:rPr lang="tr-TR" sz="2800" dirty="0"/>
              <a:t>fikrinden hareketle Allah’ın (</a:t>
            </a:r>
            <a:r>
              <a:rPr lang="tr-TR" sz="2800" dirty="0" err="1"/>
              <a:t>c.c</a:t>
            </a:r>
            <a:r>
              <a:rPr lang="tr-TR" sz="2800" dirty="0"/>
              <a:t>.) varlığını ispat etmeyi amaç edinen felsefi bir delildir.</a:t>
            </a:r>
          </a:p>
          <a:p>
            <a:r>
              <a:rPr lang="tr-TR" sz="2800" dirty="0"/>
              <a:t>Bu delil, dış gerçekliğe yani âleme dayalı verinin dışında zihni bir ispat delili olup en yetkin varlık tasavvuru üzerinde kurulmaktadır.</a:t>
            </a:r>
          </a:p>
          <a:p>
            <a:r>
              <a:rPr lang="tr-TR" sz="2800" dirty="0" err="1"/>
              <a:t>Ekmel</a:t>
            </a:r>
            <a:r>
              <a:rPr lang="tr-TR" sz="2800" dirty="0"/>
              <a:t> Varlık delilini İslam düşüncesinde ilk kullanan kişi Farabi’dir. </a:t>
            </a:r>
            <a:br>
              <a:rPr lang="tr-TR" sz="2800" dirty="0"/>
            </a:br>
            <a:r>
              <a:rPr lang="tr-TR" sz="2800" dirty="0"/>
              <a:t>(</a:t>
            </a:r>
            <a:r>
              <a:rPr lang="tr-TR" sz="2800" dirty="0" err="1"/>
              <a:t>Bkz</a:t>
            </a:r>
            <a:r>
              <a:rPr lang="tr-TR" sz="2800" dirty="0"/>
              <a:t>: Farabi, el-</a:t>
            </a:r>
            <a:r>
              <a:rPr lang="tr-TR" sz="2800" dirty="0" err="1"/>
              <a:t>Medinetü'l</a:t>
            </a:r>
            <a:r>
              <a:rPr lang="tr-TR" sz="2800" dirty="0"/>
              <a:t>-</a:t>
            </a:r>
            <a:r>
              <a:rPr lang="tr-TR" sz="2800" dirty="0" err="1"/>
              <a:t>Fâdıla</a:t>
            </a:r>
            <a:r>
              <a:rPr lang="tr-TR" sz="2800" dirty="0"/>
              <a:t>, s. 13-14)</a:t>
            </a:r>
          </a:p>
        </p:txBody>
      </p:sp>
    </p:spTree>
    <p:extLst>
      <p:ext uri="{BB962C8B-B14F-4D97-AF65-F5344CB8AC3E}">
        <p14:creationId xmlns:p14="http://schemas.microsoft.com/office/powerpoint/2010/main" val="6057604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F4AF2D9-AB56-4C87-8AA7-DF858218100F}"/>
              </a:ext>
            </a:extLst>
          </p:cNvPr>
          <p:cNvSpPr>
            <a:spLocks noGrp="1"/>
          </p:cNvSpPr>
          <p:nvPr>
            <p:ph type="title"/>
          </p:nvPr>
        </p:nvSpPr>
        <p:spPr/>
        <p:txBody>
          <a:bodyPr/>
          <a:lstStyle/>
          <a:p>
            <a:r>
              <a:rPr lang="tr-TR" b="1" dirty="0"/>
              <a:t>Kozmolojik &amp; Teolojik Delil</a:t>
            </a:r>
          </a:p>
        </p:txBody>
      </p:sp>
      <p:sp>
        <p:nvSpPr>
          <p:cNvPr id="3" name="İçerik Yer Tutucusu 2">
            <a:extLst>
              <a:ext uri="{FF2B5EF4-FFF2-40B4-BE49-F238E27FC236}">
                <a16:creationId xmlns:a16="http://schemas.microsoft.com/office/drawing/2014/main" id="{C79C7D3E-50E9-48B7-A946-EBAFBD3E324C}"/>
              </a:ext>
            </a:extLst>
          </p:cNvPr>
          <p:cNvSpPr>
            <a:spLocks noGrp="1"/>
          </p:cNvSpPr>
          <p:nvPr>
            <p:ph idx="1"/>
          </p:nvPr>
        </p:nvSpPr>
        <p:spPr/>
        <p:txBody>
          <a:bodyPr>
            <a:noAutofit/>
          </a:bodyPr>
          <a:lstStyle/>
          <a:p>
            <a:r>
              <a:rPr lang="tr-TR" sz="2400" dirty="0"/>
              <a:t>Evrendeki değişim ve hareket yasaları baz alınarak Allah’ın varlığını ispat eden kanıtlara, kozmolojik delil denir. Kozmolojik delilde </a:t>
            </a:r>
            <a:r>
              <a:rPr lang="tr-TR" sz="2400" b="1" dirty="0"/>
              <a:t>tümevarım yöntemi </a:t>
            </a:r>
            <a:r>
              <a:rPr lang="tr-TR" sz="2400" dirty="0"/>
              <a:t>kullanılır.</a:t>
            </a:r>
          </a:p>
          <a:p>
            <a:r>
              <a:rPr lang="tr-TR" sz="2400" dirty="0"/>
              <a:t>Tümevarım yönteminin ilk aşama </a:t>
            </a:r>
            <a:r>
              <a:rPr lang="tr-TR" sz="2400" b="1" dirty="0"/>
              <a:t>«var olan ya da var olmaya başlayan her şeyin bir nedeni vardır» </a:t>
            </a:r>
            <a:r>
              <a:rPr lang="tr-TR" sz="2400" dirty="0"/>
              <a:t>saptaması ile başlar.</a:t>
            </a:r>
          </a:p>
          <a:p>
            <a:endParaRPr lang="tr-TR" sz="2400" dirty="0"/>
          </a:p>
          <a:p>
            <a:r>
              <a:rPr lang="tr-TR" sz="2400" dirty="0"/>
              <a:t>Teleolojik delil ise evrende var olan düzen, güzellik ve onun bir amaca hizmet ediyor oluşu fikrine dayanır ve bizim </a:t>
            </a:r>
            <a:r>
              <a:rPr lang="tr-TR" sz="2400" b="1" dirty="0"/>
              <a:t>yakın çevremizi </a:t>
            </a:r>
            <a:r>
              <a:rPr lang="tr-TR" sz="2400" dirty="0"/>
              <a:t>ele alır.</a:t>
            </a:r>
          </a:p>
        </p:txBody>
      </p:sp>
    </p:spTree>
    <p:extLst>
      <p:ext uri="{BB962C8B-B14F-4D97-AF65-F5344CB8AC3E}">
        <p14:creationId xmlns:p14="http://schemas.microsoft.com/office/powerpoint/2010/main" val="963332489"/>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C6AB109-2B99-4B21-82B5-47FEE086D3B8}"/>
              </a:ext>
            </a:extLst>
          </p:cNvPr>
          <p:cNvSpPr>
            <a:spLocks noGrp="1"/>
          </p:cNvSpPr>
          <p:nvPr>
            <p:ph type="title"/>
          </p:nvPr>
        </p:nvSpPr>
        <p:spPr/>
        <p:txBody>
          <a:bodyPr/>
          <a:lstStyle/>
          <a:p>
            <a:r>
              <a:rPr lang="tr-TR" b="1" dirty="0"/>
              <a:t>Dini Tecrübe &amp; Ahlak Delili</a:t>
            </a:r>
          </a:p>
        </p:txBody>
      </p:sp>
      <p:sp>
        <p:nvSpPr>
          <p:cNvPr id="3" name="İçerik Yer Tutucusu 2">
            <a:extLst>
              <a:ext uri="{FF2B5EF4-FFF2-40B4-BE49-F238E27FC236}">
                <a16:creationId xmlns:a16="http://schemas.microsoft.com/office/drawing/2014/main" id="{83DE663A-3AEE-43D4-80FC-6E2AFEF8A475}"/>
              </a:ext>
            </a:extLst>
          </p:cNvPr>
          <p:cNvSpPr>
            <a:spLocks noGrp="1"/>
          </p:cNvSpPr>
          <p:nvPr>
            <p:ph idx="1"/>
          </p:nvPr>
        </p:nvSpPr>
        <p:spPr/>
        <p:txBody>
          <a:bodyPr/>
          <a:lstStyle/>
          <a:p>
            <a:r>
              <a:rPr lang="tr-TR" sz="2400" dirty="0"/>
              <a:t>Bu bağlamda </a:t>
            </a:r>
            <a:r>
              <a:rPr lang="tr-TR" sz="2400" b="1" dirty="0"/>
              <a:t>dini tecrübe delili</a:t>
            </a:r>
            <a:r>
              <a:rPr lang="tr-TR" sz="2400" dirty="0"/>
              <a:t>, özellikle insan içi, iç âlemi tabirlerini kullanarak </a:t>
            </a:r>
            <a:r>
              <a:rPr lang="tr-TR" sz="2400" b="1" dirty="0"/>
              <a:t>insandan hareketle </a:t>
            </a:r>
            <a:r>
              <a:rPr lang="tr-TR" sz="2400" dirty="0"/>
              <a:t>kanıtlarını ortaya koymuşlardır. Yani dini tecrübe delili, belli bir inançtan yola çıkarak, inanç seviyelerini(merhalelerini) aşarak Tanrı'ya giden veya götüren bir delildir.</a:t>
            </a:r>
          </a:p>
          <a:p>
            <a:endParaRPr lang="tr-TR" sz="2400" dirty="0"/>
          </a:p>
          <a:p>
            <a:r>
              <a:rPr lang="tr-TR" sz="2400" dirty="0"/>
              <a:t>Ahlak Delili ise; </a:t>
            </a:r>
            <a:r>
              <a:rPr lang="tr-TR" sz="2400" b="1" dirty="0"/>
              <a:t>Ahlaki kanıt</a:t>
            </a:r>
            <a:r>
              <a:rPr lang="tr-TR" sz="2400" dirty="0"/>
              <a:t>, kişinin ahlaki deneyiminden ve bu deneyim ile ilgili her çeşit veriden yola çıkarak Tanrı'nın varlığını ispat etmektir.</a:t>
            </a:r>
          </a:p>
          <a:p>
            <a:endParaRPr lang="tr-TR" dirty="0"/>
          </a:p>
        </p:txBody>
      </p:sp>
    </p:spTree>
    <p:extLst>
      <p:ext uri="{BB962C8B-B14F-4D97-AF65-F5344CB8AC3E}">
        <p14:creationId xmlns:p14="http://schemas.microsoft.com/office/powerpoint/2010/main" val="720827939"/>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Başlık 3">
            <a:extLst>
              <a:ext uri="{FF2B5EF4-FFF2-40B4-BE49-F238E27FC236}">
                <a16:creationId xmlns:a16="http://schemas.microsoft.com/office/drawing/2014/main" id="{CA46210F-14EE-45EC-A34D-70DE44C76E9A}"/>
              </a:ext>
            </a:extLst>
          </p:cNvPr>
          <p:cNvSpPr>
            <a:spLocks noGrp="1"/>
          </p:cNvSpPr>
          <p:nvPr>
            <p:ph type="title"/>
          </p:nvPr>
        </p:nvSpPr>
        <p:spPr/>
        <p:txBody>
          <a:bodyPr/>
          <a:lstStyle/>
          <a:p>
            <a:r>
              <a:rPr lang="tr-TR" dirty="0"/>
              <a:t>Dinlediğiniz için teşekkürler</a:t>
            </a:r>
          </a:p>
        </p:txBody>
      </p:sp>
      <p:sp>
        <p:nvSpPr>
          <p:cNvPr id="5" name="Metin Yer Tutucusu 4">
            <a:extLst>
              <a:ext uri="{FF2B5EF4-FFF2-40B4-BE49-F238E27FC236}">
                <a16:creationId xmlns:a16="http://schemas.microsoft.com/office/drawing/2014/main" id="{708E5514-EB75-4B54-B724-52F9FF5304B6}"/>
              </a:ext>
            </a:extLst>
          </p:cNvPr>
          <p:cNvSpPr>
            <a:spLocks noGrp="1"/>
          </p:cNvSpPr>
          <p:nvPr>
            <p:ph type="body" idx="1"/>
          </p:nvPr>
        </p:nvSpPr>
        <p:spPr/>
        <p:txBody>
          <a:bodyPr/>
          <a:lstStyle/>
          <a:p>
            <a:r>
              <a:rPr lang="tr-TR" dirty="0"/>
              <a:t>HAZIRLAYAN: İBRAHİM ÖZTEPE</a:t>
            </a:r>
          </a:p>
        </p:txBody>
      </p:sp>
    </p:spTree>
    <p:extLst>
      <p:ext uri="{BB962C8B-B14F-4D97-AF65-F5344CB8AC3E}">
        <p14:creationId xmlns:p14="http://schemas.microsoft.com/office/powerpoint/2010/main" val="1694788102"/>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FDE47D1D-CB1B-448B-AF70-8D25B3973685}"/>
              </a:ext>
            </a:extLst>
          </p:cNvPr>
          <p:cNvSpPr>
            <a:spLocks noGrp="1"/>
          </p:cNvSpPr>
          <p:nvPr>
            <p:ph type="title"/>
          </p:nvPr>
        </p:nvSpPr>
        <p:spPr/>
        <p:txBody>
          <a:bodyPr/>
          <a:lstStyle/>
          <a:p>
            <a:r>
              <a:rPr lang="tr-TR" b="1" dirty="0"/>
              <a:t>Kaynakça</a:t>
            </a:r>
          </a:p>
        </p:txBody>
      </p:sp>
      <p:sp>
        <p:nvSpPr>
          <p:cNvPr id="3" name="İçerik Yer Tutucusu 2">
            <a:extLst>
              <a:ext uri="{FF2B5EF4-FFF2-40B4-BE49-F238E27FC236}">
                <a16:creationId xmlns:a16="http://schemas.microsoft.com/office/drawing/2014/main" id="{45192880-AD14-40F4-81F0-06B60DB3151A}"/>
              </a:ext>
            </a:extLst>
          </p:cNvPr>
          <p:cNvSpPr>
            <a:spLocks noGrp="1"/>
          </p:cNvSpPr>
          <p:nvPr>
            <p:ph idx="1"/>
          </p:nvPr>
        </p:nvSpPr>
        <p:spPr>
          <a:xfrm>
            <a:off x="1066800" y="1724748"/>
            <a:ext cx="10058400" cy="4490658"/>
          </a:xfrm>
        </p:spPr>
        <p:txBody>
          <a:bodyPr>
            <a:normAutofit/>
          </a:bodyPr>
          <a:lstStyle/>
          <a:p>
            <a:pPr marL="0" indent="0">
              <a:buNone/>
            </a:pPr>
            <a:r>
              <a:rPr lang="tr-TR" sz="1600" dirty="0"/>
              <a:t>https://avesis.atauni.edu.tr/resume/downloadfile/celal.buyuk?key=6a59b0fc-6703-46da-9730-92d9716d28ae</a:t>
            </a:r>
          </a:p>
          <a:p>
            <a:pPr marL="0" indent="0">
              <a:buNone/>
            </a:pPr>
            <a:r>
              <a:rPr lang="tr-TR" sz="1600" dirty="0"/>
              <a:t>https://islamansiklopedisi.org.tr/dehriyye</a:t>
            </a:r>
          </a:p>
          <a:p>
            <a:pPr marL="0" indent="0">
              <a:buNone/>
            </a:pPr>
            <a:r>
              <a:rPr lang="tr-TR" sz="1600" dirty="0"/>
              <a:t>https://islamansiklopedisi.org.tr/materyalizm</a:t>
            </a:r>
          </a:p>
          <a:p>
            <a:pPr marL="0" indent="0">
              <a:buNone/>
            </a:pPr>
            <a:r>
              <a:rPr lang="tr-TR" sz="1600" dirty="0"/>
              <a:t>https://islamansiklopedisi.org.tr/pozitivizm</a:t>
            </a:r>
          </a:p>
          <a:p>
            <a:pPr marL="0" indent="0">
              <a:buNone/>
            </a:pPr>
            <a:r>
              <a:rPr lang="tr-TR" sz="1600" dirty="0"/>
              <a:t>https://www.kuranvemeali.com/allahin-varliginin-delilleri-ile-ilgili-ayetler</a:t>
            </a:r>
          </a:p>
          <a:p>
            <a:pPr marL="0" indent="0">
              <a:buNone/>
            </a:pPr>
            <a:r>
              <a:rPr lang="tr-TR" sz="1600" dirty="0"/>
              <a:t>https://www.milliyet.com.tr/egitim/kozmolojik-delil-nedir-din-kulturunde-kozmolojik-delil-nasil-anlatilir-6521243</a:t>
            </a:r>
          </a:p>
          <a:p>
            <a:pPr marL="0" indent="0">
              <a:buNone/>
            </a:pPr>
            <a:r>
              <a:rPr lang="tr-TR" sz="1600" dirty="0"/>
              <a:t>https://cevapo.biz.tr/kozmolojik-ve-teolojik-delil-nedir/</a:t>
            </a:r>
          </a:p>
          <a:p>
            <a:pPr marL="0" indent="0">
              <a:buNone/>
            </a:pPr>
            <a:r>
              <a:rPr lang="tr-TR" sz="1600" dirty="0"/>
              <a:t>Çavuşoğlu, H. (2019). "</a:t>
            </a:r>
            <a:r>
              <a:rPr lang="tr-TR" sz="1600" i="1" dirty="0"/>
              <a:t>DİNİ TECRÜBE DELİLİNİN DOĞASI"</a:t>
            </a:r>
            <a:r>
              <a:rPr lang="tr-TR" sz="1600" dirty="0"/>
              <a:t>, Uludağ Üniversitesi, Doktora</a:t>
            </a:r>
          </a:p>
          <a:p>
            <a:pPr marL="0" indent="0">
              <a:buNone/>
            </a:pPr>
            <a:r>
              <a:rPr lang="tr-TR" sz="1600" dirty="0"/>
              <a:t>Farabi, el-</a:t>
            </a:r>
            <a:r>
              <a:rPr lang="tr-TR" sz="1600" dirty="0" err="1"/>
              <a:t>Medinetü'l</a:t>
            </a:r>
            <a:r>
              <a:rPr lang="tr-TR" sz="1600" dirty="0"/>
              <a:t>-</a:t>
            </a:r>
            <a:r>
              <a:rPr lang="tr-TR" sz="1600" dirty="0" err="1"/>
              <a:t>Fâdıla</a:t>
            </a:r>
            <a:r>
              <a:rPr lang="tr-TR" sz="1600" dirty="0"/>
              <a:t>, s. 13-14</a:t>
            </a:r>
          </a:p>
          <a:p>
            <a:pPr marL="0" indent="0">
              <a:buNone/>
            </a:pPr>
            <a:r>
              <a:rPr lang="tr-TR" sz="1600" b="1" dirty="0"/>
              <a:t>SORUMLULUK REDDİ BEYANI</a:t>
            </a:r>
          </a:p>
          <a:p>
            <a:pPr marL="0" indent="0">
              <a:buNone/>
            </a:pPr>
            <a:r>
              <a:rPr lang="tr-TR" sz="1600" dirty="0"/>
              <a:t>Bahsi geçen bağlantıların/metinlerin içeriğinde bulunan sitelere/verilere </a:t>
            </a:r>
            <a:r>
              <a:rPr lang="tr-TR" sz="1600" b="1" dirty="0"/>
              <a:t>14.05.2022 tarihinde </a:t>
            </a:r>
            <a:r>
              <a:rPr lang="tr-TR" sz="1600" dirty="0"/>
              <a:t>erişilmiştir.</a:t>
            </a:r>
          </a:p>
          <a:p>
            <a:pPr marL="0" indent="0">
              <a:buNone/>
            </a:pPr>
            <a:r>
              <a:rPr lang="tr-TR" sz="1600" dirty="0"/>
              <a:t>Sonrasında bu sitelerde/metinlerde yapılacak olan değişikliklerden herhangi bir şahıs/kurum/kuruluş </a:t>
            </a:r>
            <a:r>
              <a:rPr lang="tr-TR" sz="1600" b="1" dirty="0"/>
              <a:t>sorumlu tutulamaz.</a:t>
            </a:r>
          </a:p>
        </p:txBody>
      </p:sp>
    </p:spTree>
    <p:extLst>
      <p:ext uri="{BB962C8B-B14F-4D97-AF65-F5344CB8AC3E}">
        <p14:creationId xmlns:p14="http://schemas.microsoft.com/office/powerpoint/2010/main" val="610504422"/>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bun">
  <a:themeElements>
    <a:clrScheme name="Savon">
      <a:dk1>
        <a:sysClr val="windowText" lastClr="000000"/>
      </a:dk1>
      <a:lt1>
        <a:sysClr val="window" lastClr="FFFFFF"/>
      </a:lt1>
      <a:dk2>
        <a:srgbClr val="736059"/>
      </a:dk2>
      <a:lt2>
        <a:srgbClr val="E7E0C7"/>
      </a:lt2>
      <a:accent1>
        <a:srgbClr val="92B0C8"/>
      </a:accent1>
      <a:accent2>
        <a:srgbClr val="E37C3D"/>
      </a:accent2>
      <a:accent3>
        <a:srgbClr val="A5AB81"/>
      </a:accent3>
      <a:accent4>
        <a:srgbClr val="E9B635"/>
      </a:accent4>
      <a:accent5>
        <a:srgbClr val="7BA79D"/>
      </a:accent5>
      <a:accent6>
        <a:srgbClr val="968C8C"/>
      </a:accent6>
      <a:hlink>
        <a:srgbClr val="F7A115"/>
      </a:hlink>
      <a:folHlink>
        <a:srgbClr val="969696"/>
      </a:folHlink>
    </a:clrScheme>
    <a:fontScheme name="Savon">
      <a:majorFont>
        <a:latin typeface="Garamond"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aramond"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Savon">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80000"/>
                <a:shade val="100000"/>
                <a:satMod val="300000"/>
              </a:schemeClr>
            </a:gs>
            <a:gs pos="100000">
              <a:schemeClr val="phClr">
                <a:tint val="100000"/>
                <a:shade val="30000"/>
                <a:satMod val="200000"/>
              </a:schemeClr>
            </a:gs>
          </a:gsLst>
          <a:path path="circle">
            <a:fillToRect l="50000" t="50000" r="50000" b="50000"/>
          </a:path>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 id="{1306E473-ED32-493B-A2D0-240A757EDD34}" vid="{3F20CFC1-E34F-405B-AA49-5BE0E194F1B3}"/>
    </a:ext>
  </a:extLst>
</a:theme>
</file>

<file path=docProps/app.xml><?xml version="1.0" encoding="utf-8"?>
<Properties xmlns="http://schemas.openxmlformats.org/officeDocument/2006/extended-properties" xmlns:vt="http://schemas.openxmlformats.org/officeDocument/2006/docPropsVTypes">
  <Template>TM03457510[[fn=Sabun]]</Template>
  <TotalTime>114</TotalTime>
  <Words>867</Words>
  <Application>Microsoft Office PowerPoint</Application>
  <PresentationFormat>Geniş ekran</PresentationFormat>
  <Paragraphs>68</Paragraphs>
  <Slides>13</Slides>
  <Notes>0</Notes>
  <HiddenSlides>0</HiddenSlides>
  <MMClips>0</MMClips>
  <ScaleCrop>false</ScaleCrop>
  <HeadingPairs>
    <vt:vector size="6" baseType="variant">
      <vt:variant>
        <vt:lpstr>Kullanılan Yazı Tipleri</vt:lpstr>
      </vt:variant>
      <vt:variant>
        <vt:i4>1</vt:i4>
      </vt:variant>
      <vt:variant>
        <vt:lpstr>Tema</vt:lpstr>
      </vt:variant>
      <vt:variant>
        <vt:i4>1</vt:i4>
      </vt:variant>
      <vt:variant>
        <vt:lpstr>Slayt Başlıkları</vt:lpstr>
      </vt:variant>
      <vt:variant>
        <vt:i4>13</vt:i4>
      </vt:variant>
    </vt:vector>
  </HeadingPairs>
  <TitlesOfParts>
    <vt:vector size="15" baseType="lpstr">
      <vt:lpstr>Garamond</vt:lpstr>
      <vt:lpstr>Sabun</vt:lpstr>
      <vt:lpstr>ALLAH’IN VARLIĞI VE VARLIĞINA DELALET EDEN DELILLERI</vt:lpstr>
      <vt:lpstr>İlerleyiş Şeması</vt:lpstr>
      <vt:lpstr>Allah’ın Delillerine Neden İhtiyaç Duyarız?</vt:lpstr>
      <vt:lpstr>1) İnsan Fıtratı</vt:lpstr>
      <vt:lpstr>2) İslam Coğrafyasının Genişlemesi</vt:lpstr>
      <vt:lpstr>3) Ateist Fikir Akımlarının Ortaya Çıkması</vt:lpstr>
      <vt:lpstr>Allah’ın Delillerine Yönelik Ayetler</vt:lpstr>
      <vt:lpstr>Deliller ve Tanımlamaları</vt:lpstr>
      <vt:lpstr>Ontolojik Delil</vt:lpstr>
      <vt:lpstr>Kozmolojik &amp; Teolojik Delil</vt:lpstr>
      <vt:lpstr>Dini Tecrübe &amp; Ahlak Delili</vt:lpstr>
      <vt:lpstr>Dinlediğiniz için teşekkürler</vt:lpstr>
      <vt:lpstr>Kaynakça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ALLAH’IN VARLIĞI VE VARLIĞINA DELALET EDEN DELILLERI</dc:title>
  <dc:creator>İbrahim ÖZTEPE</dc:creator>
  <cp:lastModifiedBy>İbrahim ÖZTEPE</cp:lastModifiedBy>
  <cp:revision>14</cp:revision>
  <dcterms:created xsi:type="dcterms:W3CDTF">2022-05-16T02:29:52Z</dcterms:created>
  <dcterms:modified xsi:type="dcterms:W3CDTF">2022-05-16T04:26:10Z</dcterms:modified>
</cp:coreProperties>
</file>