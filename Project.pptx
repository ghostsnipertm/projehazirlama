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1"/>
  </p:sldMasterIdLst>
  <p:sldIdLst>
    <p:sldId id="256" r:id="rId2"/>
    <p:sldId id="257" r:id="rId3"/>
    <p:sldId id="258" r:id="rId4"/>
    <p:sldId id="260" r:id="rId5"/>
    <p:sldId id="261" r:id="rId6"/>
    <p:sldId id="262" r:id="rId7"/>
    <p:sldId id="259" r:id="rId8"/>
    <p:sldId id="266" r:id="rId9"/>
    <p:sldId id="263" r:id="rId10"/>
    <p:sldId id="264" r:id="rId11"/>
    <p:sldId id="265" r:id="rId12"/>
    <p:sldId id="268"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1" d="100"/>
          <a:sy n="91" d="100"/>
        </p:scale>
        <p:origin x="53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8081F5-EE35-4044-8CF0-5732E505F070}" type="doc">
      <dgm:prSet loTypeId="urn:microsoft.com/office/officeart/2005/8/layout/chevron1" loCatId="process" qsTypeId="urn:microsoft.com/office/officeart/2005/8/quickstyle/simple1" qsCatId="simple" csTypeId="urn:microsoft.com/office/officeart/2005/8/colors/accent1_2" csCatId="accent1" phldr="1"/>
      <dgm:spPr/>
    </dgm:pt>
    <dgm:pt modelId="{AACEB9D0-89D3-4B4C-8D4E-01EA0C5B6A28}">
      <dgm:prSet phldrT="[Metin]"/>
      <dgm:spPr/>
      <dgm:t>
        <a:bodyPr/>
        <a:lstStyle/>
        <a:p>
          <a:r>
            <a:rPr lang="tr-TR" dirty="0"/>
            <a:t>GİRİŞ</a:t>
          </a:r>
        </a:p>
      </dgm:t>
    </dgm:pt>
    <dgm:pt modelId="{36A4D744-3BC4-49BB-9D8C-5A4CE92E3BAE}" type="parTrans" cxnId="{BFC52FA3-8594-42A7-82F8-88234B42A39E}">
      <dgm:prSet/>
      <dgm:spPr/>
      <dgm:t>
        <a:bodyPr/>
        <a:lstStyle/>
        <a:p>
          <a:endParaRPr lang="tr-TR"/>
        </a:p>
      </dgm:t>
    </dgm:pt>
    <dgm:pt modelId="{9B5EAB71-12E0-4A90-A007-907410C96FFA}" type="sibTrans" cxnId="{BFC52FA3-8594-42A7-82F8-88234B42A39E}">
      <dgm:prSet/>
      <dgm:spPr/>
      <dgm:t>
        <a:bodyPr/>
        <a:lstStyle/>
        <a:p>
          <a:endParaRPr lang="tr-TR"/>
        </a:p>
      </dgm:t>
    </dgm:pt>
    <dgm:pt modelId="{2A91C67A-0D33-4E14-95D0-EE505107FA42}">
      <dgm:prSet phldrT="[Metin]"/>
      <dgm:spPr/>
      <dgm:t>
        <a:bodyPr/>
        <a:lstStyle/>
        <a:p>
          <a:r>
            <a:rPr lang="tr-TR" dirty="0"/>
            <a:t>ALLAH’IN DELİLLERİNE NEDEN İHTİYAÇ DUYARIZ?</a:t>
          </a:r>
        </a:p>
      </dgm:t>
    </dgm:pt>
    <dgm:pt modelId="{294A91D7-AE27-41A0-A133-6F7ACF68E2BF}" type="parTrans" cxnId="{242F421C-D30E-4247-A8CA-AD35E3C7811A}">
      <dgm:prSet/>
      <dgm:spPr/>
      <dgm:t>
        <a:bodyPr/>
        <a:lstStyle/>
        <a:p>
          <a:endParaRPr lang="tr-TR"/>
        </a:p>
      </dgm:t>
    </dgm:pt>
    <dgm:pt modelId="{9CE7088D-53CC-4D57-9370-32723905D8DD}" type="sibTrans" cxnId="{242F421C-D30E-4247-A8CA-AD35E3C7811A}">
      <dgm:prSet/>
      <dgm:spPr/>
      <dgm:t>
        <a:bodyPr/>
        <a:lstStyle/>
        <a:p>
          <a:endParaRPr lang="tr-TR"/>
        </a:p>
      </dgm:t>
    </dgm:pt>
    <dgm:pt modelId="{494F3E69-8367-4C1B-B4B5-D23513ED1B9D}">
      <dgm:prSet phldrT="[Metin]"/>
      <dgm:spPr/>
      <dgm:t>
        <a:bodyPr/>
        <a:lstStyle/>
        <a:p>
          <a:r>
            <a:rPr lang="tr-TR" dirty="0"/>
            <a:t>ALLAH’IN DELİLLERİNE YÖNELİK AYETLER</a:t>
          </a:r>
        </a:p>
      </dgm:t>
    </dgm:pt>
    <dgm:pt modelId="{B68E992A-CDE2-461F-923A-F88BA1F11E39}" type="parTrans" cxnId="{E9DF76E3-EF55-4D89-B557-1905D4046DDA}">
      <dgm:prSet/>
      <dgm:spPr/>
      <dgm:t>
        <a:bodyPr/>
        <a:lstStyle/>
        <a:p>
          <a:endParaRPr lang="tr-TR"/>
        </a:p>
      </dgm:t>
    </dgm:pt>
    <dgm:pt modelId="{184C3EB1-942A-458C-8BFF-17130B3B3712}" type="sibTrans" cxnId="{E9DF76E3-EF55-4D89-B557-1905D4046DDA}">
      <dgm:prSet/>
      <dgm:spPr/>
      <dgm:t>
        <a:bodyPr/>
        <a:lstStyle/>
        <a:p>
          <a:endParaRPr lang="tr-TR"/>
        </a:p>
      </dgm:t>
    </dgm:pt>
    <dgm:pt modelId="{50915D73-A2B3-4F06-B41D-50494B7A0040}">
      <dgm:prSet phldrT="[Metin]"/>
      <dgm:spPr/>
      <dgm:t>
        <a:bodyPr/>
        <a:lstStyle/>
        <a:p>
          <a:r>
            <a:rPr lang="tr-TR" dirty="0"/>
            <a:t>DELİLLER VE TANIMLAMALARI</a:t>
          </a:r>
        </a:p>
      </dgm:t>
    </dgm:pt>
    <dgm:pt modelId="{A670D825-9B4D-4FCA-8B61-32E92F25A691}" type="parTrans" cxnId="{E0364CE4-4AE1-4447-AD79-623E4F516E39}">
      <dgm:prSet/>
      <dgm:spPr/>
      <dgm:t>
        <a:bodyPr/>
        <a:lstStyle/>
        <a:p>
          <a:endParaRPr lang="tr-TR"/>
        </a:p>
      </dgm:t>
    </dgm:pt>
    <dgm:pt modelId="{58933970-0E16-4F33-8D0F-9780B9FC7EC6}" type="sibTrans" cxnId="{E0364CE4-4AE1-4447-AD79-623E4F516E39}">
      <dgm:prSet/>
      <dgm:spPr/>
      <dgm:t>
        <a:bodyPr/>
        <a:lstStyle/>
        <a:p>
          <a:endParaRPr lang="tr-TR"/>
        </a:p>
      </dgm:t>
    </dgm:pt>
    <dgm:pt modelId="{102984A6-BC7F-41C0-A4E3-53740752411A}">
      <dgm:prSet/>
      <dgm:spPr/>
      <dgm:t>
        <a:bodyPr/>
        <a:lstStyle/>
        <a:p>
          <a:r>
            <a:rPr lang="tr-TR" dirty="0"/>
            <a:t>KAYNAKÇA VE KAPANIŞ</a:t>
          </a:r>
        </a:p>
      </dgm:t>
    </dgm:pt>
    <dgm:pt modelId="{987F7F92-D2A2-407B-A196-A82AD7AAD1FD}" type="parTrans" cxnId="{8BD39AF5-AB18-43B1-881D-37B11B2F15D0}">
      <dgm:prSet/>
      <dgm:spPr/>
      <dgm:t>
        <a:bodyPr/>
        <a:lstStyle/>
        <a:p>
          <a:endParaRPr lang="tr-TR"/>
        </a:p>
      </dgm:t>
    </dgm:pt>
    <dgm:pt modelId="{C50C16E2-6D4B-42AE-A031-38E8289A908D}" type="sibTrans" cxnId="{8BD39AF5-AB18-43B1-881D-37B11B2F15D0}">
      <dgm:prSet/>
      <dgm:spPr/>
      <dgm:t>
        <a:bodyPr/>
        <a:lstStyle/>
        <a:p>
          <a:endParaRPr lang="tr-TR"/>
        </a:p>
      </dgm:t>
    </dgm:pt>
    <dgm:pt modelId="{41A072EE-54AF-4896-BB65-131DEE65198D}" type="pres">
      <dgm:prSet presAssocID="{FC8081F5-EE35-4044-8CF0-5732E505F070}" presName="Name0" presStyleCnt="0">
        <dgm:presLayoutVars>
          <dgm:dir/>
          <dgm:animLvl val="lvl"/>
          <dgm:resizeHandles val="exact"/>
        </dgm:presLayoutVars>
      </dgm:prSet>
      <dgm:spPr/>
    </dgm:pt>
    <dgm:pt modelId="{87C48E2D-7858-4C8D-BA9D-175AF21163AC}" type="pres">
      <dgm:prSet presAssocID="{AACEB9D0-89D3-4B4C-8D4E-01EA0C5B6A28}" presName="parTxOnly" presStyleLbl="node1" presStyleIdx="0" presStyleCnt="5">
        <dgm:presLayoutVars>
          <dgm:chMax val="0"/>
          <dgm:chPref val="0"/>
          <dgm:bulletEnabled val="1"/>
        </dgm:presLayoutVars>
      </dgm:prSet>
      <dgm:spPr/>
    </dgm:pt>
    <dgm:pt modelId="{2ECAB282-4388-405A-A56A-40698AF78D91}" type="pres">
      <dgm:prSet presAssocID="{9B5EAB71-12E0-4A90-A007-907410C96FFA}" presName="parTxOnlySpace" presStyleCnt="0"/>
      <dgm:spPr/>
    </dgm:pt>
    <dgm:pt modelId="{9FA53841-D131-4A39-9E61-91384AF5A5CD}" type="pres">
      <dgm:prSet presAssocID="{2A91C67A-0D33-4E14-95D0-EE505107FA42}" presName="parTxOnly" presStyleLbl="node1" presStyleIdx="1" presStyleCnt="5">
        <dgm:presLayoutVars>
          <dgm:chMax val="0"/>
          <dgm:chPref val="0"/>
          <dgm:bulletEnabled val="1"/>
        </dgm:presLayoutVars>
      </dgm:prSet>
      <dgm:spPr/>
    </dgm:pt>
    <dgm:pt modelId="{14F3DFCE-BC06-45F0-AFCD-5E7B3161A7EF}" type="pres">
      <dgm:prSet presAssocID="{9CE7088D-53CC-4D57-9370-32723905D8DD}" presName="parTxOnlySpace" presStyleCnt="0"/>
      <dgm:spPr/>
    </dgm:pt>
    <dgm:pt modelId="{72851DB6-CDCB-4407-95B1-52810E3A3462}" type="pres">
      <dgm:prSet presAssocID="{494F3E69-8367-4C1B-B4B5-D23513ED1B9D}" presName="parTxOnly" presStyleLbl="node1" presStyleIdx="2" presStyleCnt="5">
        <dgm:presLayoutVars>
          <dgm:chMax val="0"/>
          <dgm:chPref val="0"/>
          <dgm:bulletEnabled val="1"/>
        </dgm:presLayoutVars>
      </dgm:prSet>
      <dgm:spPr/>
    </dgm:pt>
    <dgm:pt modelId="{A6B420B6-99CD-4E77-AD3B-AEE938FE4792}" type="pres">
      <dgm:prSet presAssocID="{184C3EB1-942A-458C-8BFF-17130B3B3712}" presName="parTxOnlySpace" presStyleCnt="0"/>
      <dgm:spPr/>
    </dgm:pt>
    <dgm:pt modelId="{F29C6656-A306-4A59-9F5A-D8468F572330}" type="pres">
      <dgm:prSet presAssocID="{50915D73-A2B3-4F06-B41D-50494B7A0040}" presName="parTxOnly" presStyleLbl="node1" presStyleIdx="3" presStyleCnt="5">
        <dgm:presLayoutVars>
          <dgm:chMax val="0"/>
          <dgm:chPref val="0"/>
          <dgm:bulletEnabled val="1"/>
        </dgm:presLayoutVars>
      </dgm:prSet>
      <dgm:spPr/>
    </dgm:pt>
    <dgm:pt modelId="{BE8C7E05-0E40-4CFC-8FD2-30DAFA2D1BC5}" type="pres">
      <dgm:prSet presAssocID="{58933970-0E16-4F33-8D0F-9780B9FC7EC6}" presName="parTxOnlySpace" presStyleCnt="0"/>
      <dgm:spPr/>
    </dgm:pt>
    <dgm:pt modelId="{429DE470-5CE3-4581-A880-B1FD1B0FE204}" type="pres">
      <dgm:prSet presAssocID="{102984A6-BC7F-41C0-A4E3-53740752411A}" presName="parTxOnly" presStyleLbl="node1" presStyleIdx="4" presStyleCnt="5">
        <dgm:presLayoutVars>
          <dgm:chMax val="0"/>
          <dgm:chPref val="0"/>
          <dgm:bulletEnabled val="1"/>
        </dgm:presLayoutVars>
      </dgm:prSet>
      <dgm:spPr/>
    </dgm:pt>
  </dgm:ptLst>
  <dgm:cxnLst>
    <dgm:cxn modelId="{E18F8604-1EB4-4798-AF4C-DF04A3FDF47A}" type="presOf" srcId="{102984A6-BC7F-41C0-A4E3-53740752411A}" destId="{429DE470-5CE3-4581-A880-B1FD1B0FE204}" srcOrd="0" destOrd="0" presId="urn:microsoft.com/office/officeart/2005/8/layout/chevron1"/>
    <dgm:cxn modelId="{BF149807-27F6-40B3-9D3B-41D66AE691E1}" type="presOf" srcId="{2A91C67A-0D33-4E14-95D0-EE505107FA42}" destId="{9FA53841-D131-4A39-9E61-91384AF5A5CD}" srcOrd="0" destOrd="0" presId="urn:microsoft.com/office/officeart/2005/8/layout/chevron1"/>
    <dgm:cxn modelId="{2CD0000D-59F5-4AF1-9EA4-2444078C549C}" type="presOf" srcId="{494F3E69-8367-4C1B-B4B5-D23513ED1B9D}" destId="{72851DB6-CDCB-4407-95B1-52810E3A3462}" srcOrd="0" destOrd="0" presId="urn:microsoft.com/office/officeart/2005/8/layout/chevron1"/>
    <dgm:cxn modelId="{242F421C-D30E-4247-A8CA-AD35E3C7811A}" srcId="{FC8081F5-EE35-4044-8CF0-5732E505F070}" destId="{2A91C67A-0D33-4E14-95D0-EE505107FA42}" srcOrd="1" destOrd="0" parTransId="{294A91D7-AE27-41A0-A133-6F7ACF68E2BF}" sibTransId="{9CE7088D-53CC-4D57-9370-32723905D8DD}"/>
    <dgm:cxn modelId="{BFC52FA3-8594-42A7-82F8-88234B42A39E}" srcId="{FC8081F5-EE35-4044-8CF0-5732E505F070}" destId="{AACEB9D0-89D3-4B4C-8D4E-01EA0C5B6A28}" srcOrd="0" destOrd="0" parTransId="{36A4D744-3BC4-49BB-9D8C-5A4CE92E3BAE}" sibTransId="{9B5EAB71-12E0-4A90-A007-907410C96FFA}"/>
    <dgm:cxn modelId="{DED724AF-9FE1-404C-B6CF-5C1B3B2007A5}" type="presOf" srcId="{FC8081F5-EE35-4044-8CF0-5732E505F070}" destId="{41A072EE-54AF-4896-BB65-131DEE65198D}" srcOrd="0" destOrd="0" presId="urn:microsoft.com/office/officeart/2005/8/layout/chevron1"/>
    <dgm:cxn modelId="{30131BC9-7DB0-4E1A-8AEE-F17E192ED127}" type="presOf" srcId="{50915D73-A2B3-4F06-B41D-50494B7A0040}" destId="{F29C6656-A306-4A59-9F5A-D8468F572330}" srcOrd="0" destOrd="0" presId="urn:microsoft.com/office/officeart/2005/8/layout/chevron1"/>
    <dgm:cxn modelId="{E9DF76E3-EF55-4D89-B557-1905D4046DDA}" srcId="{FC8081F5-EE35-4044-8CF0-5732E505F070}" destId="{494F3E69-8367-4C1B-B4B5-D23513ED1B9D}" srcOrd="2" destOrd="0" parTransId="{B68E992A-CDE2-461F-923A-F88BA1F11E39}" sibTransId="{184C3EB1-942A-458C-8BFF-17130B3B3712}"/>
    <dgm:cxn modelId="{E0364CE4-4AE1-4447-AD79-623E4F516E39}" srcId="{FC8081F5-EE35-4044-8CF0-5732E505F070}" destId="{50915D73-A2B3-4F06-B41D-50494B7A0040}" srcOrd="3" destOrd="0" parTransId="{A670D825-9B4D-4FCA-8B61-32E92F25A691}" sibTransId="{58933970-0E16-4F33-8D0F-9780B9FC7EC6}"/>
    <dgm:cxn modelId="{F1E6FDEA-C49D-4C2C-BE15-27DC70DE6CB1}" type="presOf" srcId="{AACEB9D0-89D3-4B4C-8D4E-01EA0C5B6A28}" destId="{87C48E2D-7858-4C8D-BA9D-175AF21163AC}" srcOrd="0" destOrd="0" presId="urn:microsoft.com/office/officeart/2005/8/layout/chevron1"/>
    <dgm:cxn modelId="{8BD39AF5-AB18-43B1-881D-37B11B2F15D0}" srcId="{FC8081F5-EE35-4044-8CF0-5732E505F070}" destId="{102984A6-BC7F-41C0-A4E3-53740752411A}" srcOrd="4" destOrd="0" parTransId="{987F7F92-D2A2-407B-A196-A82AD7AAD1FD}" sibTransId="{C50C16E2-6D4B-42AE-A031-38E8289A908D}"/>
    <dgm:cxn modelId="{8D691A01-1DA3-4B0C-B730-41CEE356A87B}" type="presParOf" srcId="{41A072EE-54AF-4896-BB65-131DEE65198D}" destId="{87C48E2D-7858-4C8D-BA9D-175AF21163AC}" srcOrd="0" destOrd="0" presId="urn:microsoft.com/office/officeart/2005/8/layout/chevron1"/>
    <dgm:cxn modelId="{CE22EB65-7E74-4619-AFB4-7841A75E4E0B}" type="presParOf" srcId="{41A072EE-54AF-4896-BB65-131DEE65198D}" destId="{2ECAB282-4388-405A-A56A-40698AF78D91}" srcOrd="1" destOrd="0" presId="urn:microsoft.com/office/officeart/2005/8/layout/chevron1"/>
    <dgm:cxn modelId="{67F8F810-57DA-4FF1-9376-ED5932635F43}" type="presParOf" srcId="{41A072EE-54AF-4896-BB65-131DEE65198D}" destId="{9FA53841-D131-4A39-9E61-91384AF5A5CD}" srcOrd="2" destOrd="0" presId="urn:microsoft.com/office/officeart/2005/8/layout/chevron1"/>
    <dgm:cxn modelId="{00D9F5F2-FDA9-458E-B05B-A39F9AFEB50A}" type="presParOf" srcId="{41A072EE-54AF-4896-BB65-131DEE65198D}" destId="{14F3DFCE-BC06-45F0-AFCD-5E7B3161A7EF}" srcOrd="3" destOrd="0" presId="urn:microsoft.com/office/officeart/2005/8/layout/chevron1"/>
    <dgm:cxn modelId="{17245CC2-E41F-43A2-A003-73BEC1FC9386}" type="presParOf" srcId="{41A072EE-54AF-4896-BB65-131DEE65198D}" destId="{72851DB6-CDCB-4407-95B1-52810E3A3462}" srcOrd="4" destOrd="0" presId="urn:microsoft.com/office/officeart/2005/8/layout/chevron1"/>
    <dgm:cxn modelId="{45C37B12-8AE8-4DBC-974F-3B593E94EB8E}" type="presParOf" srcId="{41A072EE-54AF-4896-BB65-131DEE65198D}" destId="{A6B420B6-99CD-4E77-AD3B-AEE938FE4792}" srcOrd="5" destOrd="0" presId="urn:microsoft.com/office/officeart/2005/8/layout/chevron1"/>
    <dgm:cxn modelId="{3D8532AD-4912-4DD3-A594-203E1EF2A128}" type="presParOf" srcId="{41A072EE-54AF-4896-BB65-131DEE65198D}" destId="{F29C6656-A306-4A59-9F5A-D8468F572330}" srcOrd="6" destOrd="0" presId="urn:microsoft.com/office/officeart/2005/8/layout/chevron1"/>
    <dgm:cxn modelId="{2AB009C0-A767-4458-A249-ECF4C7AB4C73}" type="presParOf" srcId="{41A072EE-54AF-4896-BB65-131DEE65198D}" destId="{BE8C7E05-0E40-4CFC-8FD2-30DAFA2D1BC5}" srcOrd="7" destOrd="0" presId="urn:microsoft.com/office/officeart/2005/8/layout/chevron1"/>
    <dgm:cxn modelId="{EA89A21E-2299-4CCC-914F-F1E037059F5B}" type="presParOf" srcId="{41A072EE-54AF-4896-BB65-131DEE65198D}" destId="{429DE470-5CE3-4581-A880-B1FD1B0FE204}"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C48E2D-7858-4C8D-BA9D-175AF21163AC}">
      <dsp:nvSpPr>
        <dsp:cNvPr id="0" name=""/>
        <dsp:cNvSpPr/>
      </dsp:nvSpPr>
      <dsp:spPr>
        <a:xfrm>
          <a:off x="2541" y="1603574"/>
          <a:ext cx="2262046" cy="904818"/>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tr-TR" sz="1200" kern="1200" dirty="0"/>
            <a:t>GİRİŞ</a:t>
          </a:r>
        </a:p>
      </dsp:txBody>
      <dsp:txXfrm>
        <a:off x="454950" y="1603574"/>
        <a:ext cx="1357228" cy="904818"/>
      </dsp:txXfrm>
    </dsp:sp>
    <dsp:sp modelId="{9FA53841-D131-4A39-9E61-91384AF5A5CD}">
      <dsp:nvSpPr>
        <dsp:cNvPr id="0" name=""/>
        <dsp:cNvSpPr/>
      </dsp:nvSpPr>
      <dsp:spPr>
        <a:xfrm>
          <a:off x="2038383" y="1603574"/>
          <a:ext cx="2262046" cy="904818"/>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tr-TR" sz="1200" kern="1200" dirty="0"/>
            <a:t>ALLAH’IN DELİLLERİNE NEDEN İHTİYAÇ DUYARIZ?</a:t>
          </a:r>
        </a:p>
      </dsp:txBody>
      <dsp:txXfrm>
        <a:off x="2490792" y="1603574"/>
        <a:ext cx="1357228" cy="904818"/>
      </dsp:txXfrm>
    </dsp:sp>
    <dsp:sp modelId="{72851DB6-CDCB-4407-95B1-52810E3A3462}">
      <dsp:nvSpPr>
        <dsp:cNvPr id="0" name=""/>
        <dsp:cNvSpPr/>
      </dsp:nvSpPr>
      <dsp:spPr>
        <a:xfrm>
          <a:off x="4074225" y="1603574"/>
          <a:ext cx="2262046" cy="904818"/>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tr-TR" sz="1200" kern="1200" dirty="0"/>
            <a:t>ALLAH’IN DELİLLERİNE YÖNELİK AYETLER</a:t>
          </a:r>
        </a:p>
      </dsp:txBody>
      <dsp:txXfrm>
        <a:off x="4526634" y="1603574"/>
        <a:ext cx="1357228" cy="904818"/>
      </dsp:txXfrm>
    </dsp:sp>
    <dsp:sp modelId="{F29C6656-A306-4A59-9F5A-D8468F572330}">
      <dsp:nvSpPr>
        <dsp:cNvPr id="0" name=""/>
        <dsp:cNvSpPr/>
      </dsp:nvSpPr>
      <dsp:spPr>
        <a:xfrm>
          <a:off x="6110067" y="1603574"/>
          <a:ext cx="2262046" cy="904818"/>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tr-TR" sz="1200" kern="1200" dirty="0"/>
            <a:t>DELİLLER VE TANIMLAMALARI</a:t>
          </a:r>
        </a:p>
      </dsp:txBody>
      <dsp:txXfrm>
        <a:off x="6562476" y="1603574"/>
        <a:ext cx="1357228" cy="904818"/>
      </dsp:txXfrm>
    </dsp:sp>
    <dsp:sp modelId="{429DE470-5CE3-4581-A880-B1FD1B0FE204}">
      <dsp:nvSpPr>
        <dsp:cNvPr id="0" name=""/>
        <dsp:cNvSpPr/>
      </dsp:nvSpPr>
      <dsp:spPr>
        <a:xfrm>
          <a:off x="8145908" y="1603574"/>
          <a:ext cx="2262046" cy="904818"/>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tr-TR" sz="1200" kern="1200" dirty="0"/>
            <a:t>KAYNAKÇA VE KAPANIŞ</a:t>
          </a:r>
        </a:p>
      </dsp:txBody>
      <dsp:txXfrm>
        <a:off x="8598317" y="1603574"/>
        <a:ext cx="1357228" cy="904818"/>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1">
        <a:schemeClr val="bg2"/>
      </p:bgRef>
    </p:bg>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lumMod val="7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A76EB9D5-7E1A-4433-8B21-2237CC26FA2C}" type="datetimeFigureOut">
              <a:rPr lang="en-US" dirty="0"/>
              <a:t>5/16/2022</a:t>
            </a:fld>
            <a:endParaRPr lang="en-US" dirty="0"/>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539EF837-FEDB-44F2-8FB5-4F56FC548A33}" type="datetimeFigureOut">
              <a:rPr lang="en-US" dirty="0"/>
              <a:t>5/16/2022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bg>
      <p:bgRef idx="1001">
        <a:schemeClr val="bg2"/>
      </p:bgRef>
    </p:bg>
    <p:spTree>
      <p:nvGrpSpPr>
        <p:cNvPr id="1" name=""/>
        <p:cNvGrpSpPr/>
        <p:nvPr/>
      </p:nvGrpSpPr>
      <p:grpSpPr>
        <a:xfrm>
          <a:off x="0" y="0"/>
          <a:ext cx="0" cy="0"/>
          <a:chOff x="0" y="0"/>
          <a:chExt cx="0" cy="0"/>
        </a:xfrm>
      </p:grpSpPr>
      <p:sp>
        <p:nvSpPr>
          <p:cNvPr id="16" name="Rectangle 15"/>
          <p:cNvSpPr/>
          <p:nvPr/>
        </p:nvSpPr>
        <p:spPr>
          <a:xfrm>
            <a:off x="11784" y="0"/>
            <a:ext cx="12192000" cy="6858000"/>
          </a:xfrm>
          <a:prstGeom prst="rect">
            <a:avLst/>
          </a:prstGeom>
          <a:blipFill dpi="0" rotWithShape="1">
            <a:blip r:embed="rId2">
              <a:alphaModFix amt="40000"/>
              <a:duotone>
                <a:schemeClr val="accent2">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4EC2AB55-62C0-407E-B706-C907B44B0BFC}" type="datetimeFigureOut">
              <a:rPr lang="en-US" dirty="0"/>
              <a:t>5/16/2022</a:t>
            </a:fld>
            <a:endParaRPr lang="en-US" dirty="0"/>
          </a:p>
        </p:txBody>
      </p:sp>
      <p:sp>
        <p:nvSpPr>
          <p:cNvPr id="5" name="Footer Placeholder 4"/>
          <p:cNvSpPr>
            <a:spLocks noGrp="1"/>
          </p:cNvSpPr>
          <p:nvPr>
            <p:ph type="ftr" sz="quarter" idx="11"/>
          </p:nvPr>
        </p:nvSpPr>
        <p:spPr>
          <a:xfrm>
            <a:off x="1453896" y="521208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2080"/>
            <a:ext cx="2112264" cy="228600"/>
          </a:xfrm>
        </p:spPr>
        <p:txBody>
          <a:bodyPr/>
          <a:lstStyle/>
          <a:p>
            <a:fld id="{4FAB73BC-B049-4115-A692-8D63A059BFB8}" type="slidenum">
              <a:rPr lang="en-US" dirty="0"/>
              <a:t>‹#›</a:t>
            </a:fld>
            <a:endParaRPr lang="en-US" dirty="0"/>
          </a:p>
        </p:txBody>
      </p:sp>
    </p:spTree>
  </p:cSld>
  <p:clrMapOvr>
    <a:overrideClrMapping bg1="lt1" tx1="dk1" bg2="lt2" tx2="dk2" accent1="accent1" accent2="accent2" accent3="accent3" accent4="accent4" accent5="accent5" accent6="accent6" hlink="hlink" folHlink="folHlink"/>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69FBB33F-FEF5-4E73-A5F9-307689FE77C6}" type="datetimeFigureOut">
              <a:rPr lang="en-US" dirty="0"/>
              <a:t>5/16/2022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A64B5FA4-F0B8-4D71-BC92-932E3A1502F8}" type="datetimeFigureOut">
              <a:rPr lang="en-US" dirty="0"/>
              <a:t>5/16/2022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4FD89F80-C2CE-4D6A-80E4-D3515AD92BC6}" type="datetimeFigureOut">
              <a:rPr lang="en-US" dirty="0"/>
              <a:t>5/16/2022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E4220E-EF40-477E-B84C-637FC7CE78DB}" type="datetimeFigureOut">
              <a:rPr lang="en-US" dirty="0"/>
              <a:t>5/16/2022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tx1"/>
                </a:solidFill>
                <a:effectLst/>
                <a:latin typeface="+mj-lt"/>
                <a:ea typeface="+mn-ea"/>
                <a:cs typeface="+mn-cs"/>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8" name="Date Placeholder 7"/>
          <p:cNvSpPr>
            <a:spLocks noGrp="1"/>
          </p:cNvSpPr>
          <p:nvPr>
            <p:ph type="dt" sz="half" idx="10"/>
          </p:nvPr>
        </p:nvSpPr>
        <p:spPr/>
        <p:txBody>
          <a:bodyPr/>
          <a:lstStyle/>
          <a:p>
            <a:fld id="{FD0B8D63-E026-4E54-B301-C824E1BD14F3}" type="datetimeFigureOut">
              <a:rPr lang="en-US" dirty="0"/>
              <a:t>5/16/2022</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6728" y="6227064"/>
            <a:ext cx="1463040" cy="256032"/>
          </a:xfrm>
        </p:spPr>
        <p:txBody>
          <a:bodyPr/>
          <a:lstStyle/>
          <a:p>
            <a:fld id="{4FAB73BC-B049-4115-A692-8D63A059BFB8}" type="slidenum">
              <a:rPr lang="en-US" dirty="0"/>
              <a:pPr/>
              <a:t>‹#›</a:t>
            </a:fld>
            <a:endParaRPr lang="en-US" dirty="0"/>
          </a:p>
        </p:txBody>
      </p:sp>
      <p:sp>
        <p:nvSpPr>
          <p:cNvPr id="12" name="Rectangle 11"/>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6">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6C423185-9573-406A-8068-0AB4F2335019}" type="datetimeFigureOut">
              <a:rPr lang="en-US" dirty="0"/>
              <a:t>5/16/2022</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56032"/>
          </a:xfrm>
        </p:spPr>
        <p:txBody>
          <a:bodyPr/>
          <a:lstStyle/>
          <a:p>
            <a:fld id="{4FAB73BC-B049-4115-A692-8D63A059BFB8}" type="slidenum">
              <a:rPr lang="en-US" dirty="0"/>
              <a:pPr/>
              <a:t>‹#›</a:t>
            </a:fld>
            <a:endParaRPr lang="en-US" dirty="0"/>
          </a:p>
        </p:txBody>
      </p:sp>
      <p:sp>
        <p:nvSpPr>
          <p:cNvPr id="10" name="Rectangle 9"/>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2598A19-B9D6-4696-A74D-9FEF900C8B6A}" type="datetimeFigureOut">
              <a:rPr lang="en-US" dirty="0"/>
              <a:t>5/16/2022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9A205100-39B0-4914-BBD6-34F267582565}" type="datetimeFigureOut">
              <a:rPr lang="en-US" dirty="0"/>
              <a:t>5/16/2022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6C5516DA-9D86-4E1E-A623-C11F9F74EB59}" type="datetimeFigureOut">
              <a:rPr lang="en-US" dirty="0"/>
              <a:t>5/16/2022</a:t>
            </a:fld>
            <a:endParaRPr lang="en-US" dirty="0"/>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dirty="0"/>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spd="slow">
    <p:push dir="u"/>
  </p:transition>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D6E22BE-28B4-4E37-9E55-735E5B61AA5A}"/>
              </a:ext>
            </a:extLst>
          </p:cNvPr>
          <p:cNvSpPr>
            <a:spLocks noGrp="1"/>
          </p:cNvSpPr>
          <p:nvPr>
            <p:ph type="ctrTitle"/>
          </p:nvPr>
        </p:nvSpPr>
        <p:spPr/>
        <p:txBody>
          <a:bodyPr/>
          <a:lstStyle/>
          <a:p>
            <a:r>
              <a:rPr lang="tr-TR" sz="6600" dirty="0"/>
              <a:t>ALLAH’IN VARLIĞI VE VARLIĞINA DELALET EDEN DELILLERI</a:t>
            </a:r>
          </a:p>
        </p:txBody>
      </p:sp>
    </p:spTree>
    <p:extLst>
      <p:ext uri="{BB962C8B-B14F-4D97-AF65-F5344CB8AC3E}">
        <p14:creationId xmlns:p14="http://schemas.microsoft.com/office/powerpoint/2010/main" val="2886896334"/>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7ADC2F5-A359-411F-B65E-AD1EE990904C}"/>
              </a:ext>
            </a:extLst>
          </p:cNvPr>
          <p:cNvSpPr>
            <a:spLocks noGrp="1"/>
          </p:cNvSpPr>
          <p:nvPr>
            <p:ph type="title"/>
          </p:nvPr>
        </p:nvSpPr>
        <p:spPr/>
        <p:txBody>
          <a:bodyPr/>
          <a:lstStyle/>
          <a:p>
            <a:r>
              <a:rPr lang="tr-TR" b="1" dirty="0"/>
              <a:t>İlerleyiş Şeması</a:t>
            </a:r>
          </a:p>
        </p:txBody>
      </p:sp>
      <p:graphicFrame>
        <p:nvGraphicFramePr>
          <p:cNvPr id="4" name="İçerik Yer Tutucusu 3">
            <a:extLst>
              <a:ext uri="{FF2B5EF4-FFF2-40B4-BE49-F238E27FC236}">
                <a16:creationId xmlns:a16="http://schemas.microsoft.com/office/drawing/2014/main" id="{0033A79B-6E1B-4D36-B9CC-219B0C6F3FEB}"/>
              </a:ext>
            </a:extLst>
          </p:cNvPr>
          <p:cNvGraphicFramePr>
            <a:graphicFrameLocks noGrp="1"/>
          </p:cNvGraphicFramePr>
          <p:nvPr>
            <p:ph idx="1"/>
            <p:extLst>
              <p:ext uri="{D42A27DB-BD31-4B8C-83A1-F6EECF244321}">
                <p14:modId xmlns:p14="http://schemas.microsoft.com/office/powerpoint/2010/main" val="1507126007"/>
              </p:ext>
            </p:extLst>
          </p:nvPr>
        </p:nvGraphicFramePr>
        <p:xfrm>
          <a:off x="890751" y="1947340"/>
          <a:ext cx="10410497" cy="41119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7643472"/>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7DBA70E-2A8C-44C6-967A-EB1F7E8AD7A2}"/>
              </a:ext>
            </a:extLst>
          </p:cNvPr>
          <p:cNvSpPr>
            <a:spLocks noGrp="1"/>
          </p:cNvSpPr>
          <p:nvPr>
            <p:ph type="title"/>
          </p:nvPr>
        </p:nvSpPr>
        <p:spPr/>
        <p:txBody>
          <a:bodyPr>
            <a:normAutofit/>
          </a:bodyPr>
          <a:lstStyle/>
          <a:p>
            <a:r>
              <a:rPr lang="tr-TR" sz="4200" b="1" dirty="0"/>
              <a:t>Allah’ın Delillerine Neden İhtiyaç Duyarız?</a:t>
            </a:r>
          </a:p>
        </p:txBody>
      </p:sp>
      <p:sp>
        <p:nvSpPr>
          <p:cNvPr id="3" name="İçerik Yer Tutucusu 2">
            <a:extLst>
              <a:ext uri="{FF2B5EF4-FFF2-40B4-BE49-F238E27FC236}">
                <a16:creationId xmlns:a16="http://schemas.microsoft.com/office/drawing/2014/main" id="{BF897523-9F0F-4568-98FD-EFA40BAB5715}"/>
              </a:ext>
            </a:extLst>
          </p:cNvPr>
          <p:cNvSpPr>
            <a:spLocks noGrp="1"/>
          </p:cNvSpPr>
          <p:nvPr>
            <p:ph idx="1"/>
          </p:nvPr>
        </p:nvSpPr>
        <p:spPr/>
        <p:txBody>
          <a:bodyPr>
            <a:normAutofit lnSpcReduction="10000"/>
          </a:bodyPr>
          <a:lstStyle/>
          <a:p>
            <a:r>
              <a:rPr lang="tr-TR" sz="2800" dirty="0"/>
              <a:t>Gerek </a:t>
            </a:r>
            <a:r>
              <a:rPr lang="tr-TR" sz="2800" b="1" dirty="0" err="1"/>
              <a:t>teist</a:t>
            </a:r>
            <a:r>
              <a:rPr lang="tr-TR" sz="2800" dirty="0"/>
              <a:t> gerekse </a:t>
            </a:r>
            <a:r>
              <a:rPr lang="tr-TR" sz="2800" b="1" dirty="0"/>
              <a:t>ateist</a:t>
            </a:r>
            <a:r>
              <a:rPr lang="tr-TR" sz="2800" dirty="0"/>
              <a:t> düşünürler Tanrının varlığına inanmak yada inanmamak için delillere gerek olup olmadığı hususunda ciddi tartışmalar yapmışlardır.</a:t>
            </a:r>
          </a:p>
          <a:p>
            <a:r>
              <a:rPr lang="tr-TR" sz="2800" dirty="0"/>
              <a:t>İnsanın inandığı şeyin lehinde kanıt getirmeye çalışması da bir anlamda onun </a:t>
            </a:r>
            <a:r>
              <a:rPr lang="tr-TR" sz="2800" b="1" dirty="0"/>
              <a:t>şüphe içerisinde olduğu </a:t>
            </a:r>
            <a:r>
              <a:rPr lang="tr-TR" sz="2800" dirty="0"/>
              <a:t>izlenimini vermektedir.</a:t>
            </a:r>
          </a:p>
          <a:p>
            <a:r>
              <a:rPr lang="tr-TR" sz="2800" dirty="0"/>
              <a:t>Tanrının varlığına inanan kişilere göre Tanrının varlığı konusunda ortaya konan kanıtlar sadece </a:t>
            </a:r>
            <a:r>
              <a:rPr lang="tr-TR" sz="2800" b="1" dirty="0"/>
              <a:t>ateistlerin meydan okumaları </a:t>
            </a:r>
            <a:r>
              <a:rPr lang="tr-TR" sz="2800" dirty="0"/>
              <a:t>karşısında ileri sürülmüştür. </a:t>
            </a:r>
          </a:p>
          <a:p>
            <a:r>
              <a:rPr lang="tr-TR" sz="2800" dirty="0"/>
              <a:t>Başlıklar ışığında inceleyecek olursak;</a:t>
            </a:r>
          </a:p>
          <a:p>
            <a:endParaRPr lang="tr-TR" dirty="0"/>
          </a:p>
        </p:txBody>
      </p:sp>
    </p:spTree>
    <p:extLst>
      <p:ext uri="{BB962C8B-B14F-4D97-AF65-F5344CB8AC3E}">
        <p14:creationId xmlns:p14="http://schemas.microsoft.com/office/powerpoint/2010/main" val="46602317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FFAD20C-3863-4CDC-931C-E26081A0B12A}"/>
              </a:ext>
            </a:extLst>
          </p:cNvPr>
          <p:cNvSpPr>
            <a:spLocks noGrp="1"/>
          </p:cNvSpPr>
          <p:nvPr>
            <p:ph type="title"/>
          </p:nvPr>
        </p:nvSpPr>
        <p:spPr/>
        <p:txBody>
          <a:bodyPr/>
          <a:lstStyle/>
          <a:p>
            <a:r>
              <a:rPr lang="tr-TR" b="1" dirty="0"/>
              <a:t>1) İnsan Fıtratı</a:t>
            </a:r>
          </a:p>
        </p:txBody>
      </p:sp>
      <p:sp>
        <p:nvSpPr>
          <p:cNvPr id="3" name="İçerik Yer Tutucusu 2">
            <a:extLst>
              <a:ext uri="{FF2B5EF4-FFF2-40B4-BE49-F238E27FC236}">
                <a16:creationId xmlns:a16="http://schemas.microsoft.com/office/drawing/2014/main" id="{26050D81-F62C-4526-AD32-4BC96ED6B55A}"/>
              </a:ext>
            </a:extLst>
          </p:cNvPr>
          <p:cNvSpPr>
            <a:spLocks noGrp="1"/>
          </p:cNvSpPr>
          <p:nvPr>
            <p:ph idx="1"/>
          </p:nvPr>
        </p:nvSpPr>
        <p:spPr/>
        <p:txBody>
          <a:bodyPr>
            <a:normAutofit/>
          </a:bodyPr>
          <a:lstStyle/>
          <a:p>
            <a:pPr algn="just" eaLnBrk="1" fontAlgn="auto" hangingPunct="1">
              <a:spcAft>
                <a:spcPts val="0"/>
              </a:spcAft>
              <a:defRPr/>
            </a:pPr>
            <a:r>
              <a:rPr lang="tr-TR" sz="3600" dirty="0"/>
              <a:t>İnsanlar </a:t>
            </a:r>
            <a:r>
              <a:rPr lang="tr-TR" sz="3600" b="1" dirty="0"/>
              <a:t>doğuştan</a:t>
            </a:r>
            <a:r>
              <a:rPr lang="tr-TR" sz="3600" dirty="0"/>
              <a:t> </a:t>
            </a:r>
            <a:r>
              <a:rPr lang="tr-TR" sz="3600" b="1" dirty="0"/>
              <a:t>inanç potansiyeline sahip </a:t>
            </a:r>
            <a:r>
              <a:rPr lang="tr-TR" sz="3600" dirty="0"/>
              <a:t>yaratılmış varlıklardır.</a:t>
            </a:r>
          </a:p>
          <a:p>
            <a:pPr algn="just" eaLnBrk="1" fontAlgn="auto" hangingPunct="1">
              <a:spcAft>
                <a:spcPts val="0"/>
              </a:spcAft>
              <a:defRPr/>
            </a:pPr>
            <a:r>
              <a:rPr lang="tr-TR" sz="3600" dirty="0"/>
              <a:t>Doğal olarak insanoğlu yaratıcısının nasıl olduğunu merak eder, onu bilmek ister, kendince ve inandığı dinin ona verdikleriyle yaratıcısının varlığını </a:t>
            </a:r>
            <a:r>
              <a:rPr lang="tr-TR" sz="3600" dirty="0" err="1"/>
              <a:t>delillendirmeye</a:t>
            </a:r>
            <a:r>
              <a:rPr lang="tr-TR" sz="3600" dirty="0"/>
              <a:t> çalışır.</a:t>
            </a:r>
          </a:p>
        </p:txBody>
      </p:sp>
    </p:spTree>
    <p:extLst>
      <p:ext uri="{BB962C8B-B14F-4D97-AF65-F5344CB8AC3E}">
        <p14:creationId xmlns:p14="http://schemas.microsoft.com/office/powerpoint/2010/main" val="1323130361"/>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9DCCD23-C92E-4B5C-90DC-145BED07BBDB}"/>
              </a:ext>
            </a:extLst>
          </p:cNvPr>
          <p:cNvSpPr>
            <a:spLocks noGrp="1"/>
          </p:cNvSpPr>
          <p:nvPr>
            <p:ph type="title"/>
          </p:nvPr>
        </p:nvSpPr>
        <p:spPr/>
        <p:txBody>
          <a:bodyPr/>
          <a:lstStyle/>
          <a:p>
            <a:r>
              <a:rPr lang="tr-TR" b="1" dirty="0"/>
              <a:t>2) İslam Coğrafyasının Genişlemesi</a:t>
            </a:r>
          </a:p>
        </p:txBody>
      </p:sp>
      <p:sp>
        <p:nvSpPr>
          <p:cNvPr id="3" name="İçerik Yer Tutucusu 2">
            <a:extLst>
              <a:ext uri="{FF2B5EF4-FFF2-40B4-BE49-F238E27FC236}">
                <a16:creationId xmlns:a16="http://schemas.microsoft.com/office/drawing/2014/main" id="{E1B1F7D0-A074-48AB-8110-508CDF14997B}"/>
              </a:ext>
            </a:extLst>
          </p:cNvPr>
          <p:cNvSpPr>
            <a:spLocks noGrp="1"/>
          </p:cNvSpPr>
          <p:nvPr>
            <p:ph idx="1"/>
          </p:nvPr>
        </p:nvSpPr>
        <p:spPr/>
        <p:txBody>
          <a:bodyPr>
            <a:normAutofit/>
          </a:bodyPr>
          <a:lstStyle/>
          <a:p>
            <a:r>
              <a:rPr lang="tr-TR" sz="2800" dirty="0"/>
              <a:t>Müslümanlar ilk Halife Hz. Ebubekir döneminden itibaren Arap Yarımadasından dışarı çıkmaya başlamışlardı.</a:t>
            </a:r>
          </a:p>
          <a:p>
            <a:r>
              <a:rPr lang="tr-TR" sz="2800" b="1" dirty="0"/>
              <a:t>İslam coğrafyasının hızla genişlemesiyle</a:t>
            </a:r>
            <a:r>
              <a:rPr lang="tr-TR" sz="2800" dirty="0"/>
              <a:t> bu durum yaygınlaşmıştı.</a:t>
            </a:r>
          </a:p>
          <a:p>
            <a:r>
              <a:rPr lang="tr-TR" sz="2800" dirty="0"/>
              <a:t>İslam coğrafyasının genişlemesiyle Müslümanlar Eski Yunan, Hint ve İskenderiye’den gelen çeşitli görüş ve inanışlara sahip insanları, </a:t>
            </a:r>
            <a:r>
              <a:rPr lang="tr-TR" sz="2800" b="1" dirty="0"/>
              <a:t>toplulukları yönetimi altına almıştı</a:t>
            </a:r>
            <a:r>
              <a:rPr lang="tr-TR" sz="2800" dirty="0"/>
              <a:t>.</a:t>
            </a:r>
          </a:p>
          <a:p>
            <a:r>
              <a:rPr lang="tr-TR" sz="2800" dirty="0"/>
              <a:t>Bu geniş coğrafyada Tanrı tanımaz (</a:t>
            </a:r>
            <a:r>
              <a:rPr lang="tr-TR" sz="2800" dirty="0" err="1"/>
              <a:t>dehriyye</a:t>
            </a:r>
            <a:r>
              <a:rPr lang="tr-TR" sz="2800" dirty="0"/>
              <a:t>), yani </a:t>
            </a:r>
            <a:r>
              <a:rPr lang="tr-TR" sz="2800" b="1" dirty="0"/>
              <a:t>birçok inkarcı bulunmaktaydı.</a:t>
            </a:r>
          </a:p>
          <a:p>
            <a:endParaRPr lang="tr-TR" dirty="0"/>
          </a:p>
        </p:txBody>
      </p:sp>
    </p:spTree>
    <p:extLst>
      <p:ext uri="{BB962C8B-B14F-4D97-AF65-F5344CB8AC3E}">
        <p14:creationId xmlns:p14="http://schemas.microsoft.com/office/powerpoint/2010/main" val="40663344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2D2105D-2AEF-4490-80F4-AE1220FAEE44}"/>
              </a:ext>
            </a:extLst>
          </p:cNvPr>
          <p:cNvSpPr>
            <a:spLocks noGrp="1"/>
          </p:cNvSpPr>
          <p:nvPr>
            <p:ph type="title"/>
          </p:nvPr>
        </p:nvSpPr>
        <p:spPr/>
        <p:txBody>
          <a:bodyPr>
            <a:normAutofit fontScale="90000"/>
          </a:bodyPr>
          <a:lstStyle/>
          <a:p>
            <a:r>
              <a:rPr lang="tr-TR" b="1" dirty="0"/>
              <a:t>3) Ateist Fikir Akımlarının Ortaya Çıkması</a:t>
            </a:r>
          </a:p>
        </p:txBody>
      </p:sp>
      <p:sp>
        <p:nvSpPr>
          <p:cNvPr id="3" name="İçerik Yer Tutucusu 2">
            <a:extLst>
              <a:ext uri="{FF2B5EF4-FFF2-40B4-BE49-F238E27FC236}">
                <a16:creationId xmlns:a16="http://schemas.microsoft.com/office/drawing/2014/main" id="{DA6B237E-EE07-4630-A261-B6130230347C}"/>
              </a:ext>
            </a:extLst>
          </p:cNvPr>
          <p:cNvSpPr>
            <a:spLocks noGrp="1"/>
          </p:cNvSpPr>
          <p:nvPr>
            <p:ph idx="1"/>
          </p:nvPr>
        </p:nvSpPr>
        <p:spPr/>
        <p:txBody>
          <a:bodyPr>
            <a:normAutofit/>
          </a:bodyPr>
          <a:lstStyle/>
          <a:p>
            <a:r>
              <a:rPr lang="tr-TR" sz="2400" dirty="0"/>
              <a:t>19 yy. </a:t>
            </a:r>
            <a:r>
              <a:rPr lang="tr-TR" sz="2400" dirty="0" err="1"/>
              <a:t>metaryalist</a:t>
            </a:r>
            <a:r>
              <a:rPr lang="tr-TR" sz="2400" dirty="0"/>
              <a:t> ve pozitivist düşüncenin hayatın her alanını hakimiyeti altına alan bir asır olmuştur.</a:t>
            </a:r>
          </a:p>
          <a:p>
            <a:endParaRPr lang="tr-TR" sz="2400" dirty="0"/>
          </a:p>
          <a:p>
            <a:r>
              <a:rPr lang="tr-TR" sz="2400" dirty="0"/>
              <a:t>Son asırda yeniden canlanmaya başlayan materyalizm </a:t>
            </a:r>
            <a:r>
              <a:rPr lang="tr-TR" sz="2400"/>
              <a:t>ve pozitivizm </a:t>
            </a:r>
            <a:r>
              <a:rPr lang="tr-TR" sz="2400" dirty="0"/>
              <a:t>ortaya çıkışı.</a:t>
            </a:r>
          </a:p>
          <a:p>
            <a:pPr marL="0" indent="0">
              <a:buNone/>
            </a:pPr>
            <a:endParaRPr lang="tr-TR" dirty="0"/>
          </a:p>
          <a:p>
            <a:pPr marL="0" indent="0">
              <a:buNone/>
            </a:pPr>
            <a:r>
              <a:rPr lang="tr-TR" b="1" dirty="0"/>
              <a:t>EK BİLGİ</a:t>
            </a:r>
          </a:p>
          <a:p>
            <a:pPr marL="0" indent="0">
              <a:buNone/>
            </a:pPr>
            <a:r>
              <a:rPr lang="tr-TR" sz="1400" dirty="0"/>
              <a:t>MATERYALİZM: Var olan her şeyin maddeden ibaret olduğunu, maddeden bağımsız fizik ötesi bir alanın (metafizik) bulunmadığını, bilinç, duygu, düşünce vb. unsurların </a:t>
            </a:r>
            <a:r>
              <a:rPr lang="tr-TR" sz="1400" b="1" dirty="0"/>
              <a:t>maddeden kaynaklandığını</a:t>
            </a:r>
            <a:r>
              <a:rPr lang="tr-TR" sz="1400" dirty="0"/>
              <a:t>, olup biten her şeyin sadece maddî sebeplerle açıklanabileceğini, sonuç olarak tabiat üstü bir gücün mevcut olmadığını ileri süren, özünde tanrıtanımaz doktrinler bütününe verilen addır. </a:t>
            </a:r>
          </a:p>
          <a:p>
            <a:pPr marL="0" indent="0">
              <a:buNone/>
            </a:pPr>
            <a:r>
              <a:rPr lang="tr-TR" sz="1400" dirty="0"/>
              <a:t>POZİTİVİZM: Terim, </a:t>
            </a:r>
            <a:r>
              <a:rPr lang="tr-TR" sz="1400" dirty="0" err="1"/>
              <a:t>Fransızca’da</a:t>
            </a:r>
            <a:r>
              <a:rPr lang="tr-TR" sz="1400" dirty="0"/>
              <a:t> “gerçek, olgu, kesin, kanıtlanmış, olumlu” gibi anlamlara gelen </a:t>
            </a:r>
            <a:r>
              <a:rPr lang="tr-TR" sz="1400" b="1" dirty="0" err="1"/>
              <a:t>positif</a:t>
            </a:r>
            <a:r>
              <a:rPr lang="tr-TR" sz="1400" dirty="0"/>
              <a:t> kelimesinden türetilmiştir</a:t>
            </a:r>
          </a:p>
        </p:txBody>
      </p:sp>
    </p:spTree>
    <p:extLst>
      <p:ext uri="{BB962C8B-B14F-4D97-AF65-F5344CB8AC3E}">
        <p14:creationId xmlns:p14="http://schemas.microsoft.com/office/powerpoint/2010/main" val="117834214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3A1EA71-A7A1-472D-945B-D4AFB8CF1908}"/>
              </a:ext>
            </a:extLst>
          </p:cNvPr>
          <p:cNvSpPr>
            <a:spLocks noGrp="1"/>
          </p:cNvSpPr>
          <p:nvPr>
            <p:ph type="title"/>
          </p:nvPr>
        </p:nvSpPr>
        <p:spPr/>
        <p:txBody>
          <a:bodyPr>
            <a:normAutofit/>
          </a:bodyPr>
          <a:lstStyle/>
          <a:p>
            <a:r>
              <a:rPr lang="tr-TR" sz="4800" b="1" dirty="0"/>
              <a:t>Allah’ın Delillerine Yönelik Ayetler</a:t>
            </a:r>
            <a:endParaRPr lang="tr-TR" b="1" dirty="0"/>
          </a:p>
        </p:txBody>
      </p:sp>
      <p:sp>
        <p:nvSpPr>
          <p:cNvPr id="3" name="İçerik Yer Tutucusu 2">
            <a:extLst>
              <a:ext uri="{FF2B5EF4-FFF2-40B4-BE49-F238E27FC236}">
                <a16:creationId xmlns:a16="http://schemas.microsoft.com/office/drawing/2014/main" id="{1B79ED59-53F3-4D6A-A1DF-180DDD3FD14A}"/>
              </a:ext>
            </a:extLst>
          </p:cNvPr>
          <p:cNvSpPr>
            <a:spLocks noGrp="1"/>
          </p:cNvSpPr>
          <p:nvPr>
            <p:ph idx="1"/>
          </p:nvPr>
        </p:nvSpPr>
        <p:spPr/>
        <p:txBody>
          <a:bodyPr>
            <a:normAutofit lnSpcReduction="10000"/>
          </a:bodyPr>
          <a:lstStyle/>
          <a:p>
            <a:r>
              <a:rPr lang="tr-TR" dirty="0"/>
              <a:t>Göklerde ve yerde Allah’ın varlığını, birliğini ve kudretini gösteren öyle deliller var ki! Onlar, bu delillerle sürekli iç içe, yan yana bulunurlar, fakat üzerinde hiç düşünmeden tam bir aldırmazlık içinde onlardan yüz çevirirler!</a:t>
            </a:r>
            <a:br>
              <a:rPr lang="tr-TR" dirty="0"/>
            </a:br>
            <a:r>
              <a:rPr lang="tr-TR" dirty="0"/>
              <a:t>(Yusuf, 105)</a:t>
            </a:r>
          </a:p>
          <a:p>
            <a:pPr marL="0" indent="0">
              <a:buNone/>
            </a:pPr>
            <a:endParaRPr lang="tr-TR" dirty="0"/>
          </a:p>
          <a:p>
            <a:r>
              <a:rPr lang="tr-TR" dirty="0"/>
              <a:t>Gecenin gelişi de onlar için Allah’ın birliğini gösteren bir delildir. Gündüzü ondan soyup çıkarırız da birden karanlığa </a:t>
            </a:r>
            <a:r>
              <a:rPr lang="tr-TR" dirty="0" err="1"/>
              <a:t>gömülüverirler</a:t>
            </a:r>
            <a:r>
              <a:rPr lang="tr-TR" dirty="0"/>
              <a:t>. Onlar için bir başka delil olan güneş, kendine ait yörüngesinde belli bir kanuna göre akıp gider. İşte bu, kudreti </a:t>
            </a:r>
            <a:r>
              <a:rPr lang="tr-TR" dirty="0" err="1"/>
              <a:t>dâimâ</a:t>
            </a:r>
            <a:r>
              <a:rPr lang="tr-TR" dirty="0"/>
              <a:t> üstün gelen ve her şeyi en iyi bilen Allah’ın takdiridir.</a:t>
            </a:r>
            <a:br>
              <a:rPr lang="tr-TR" dirty="0"/>
            </a:br>
            <a:r>
              <a:rPr lang="tr-TR" dirty="0"/>
              <a:t>(Yasin, 37 - 38)</a:t>
            </a:r>
          </a:p>
          <a:p>
            <a:pPr marL="0" indent="0">
              <a:buNone/>
            </a:pPr>
            <a:endParaRPr lang="tr-TR" dirty="0"/>
          </a:p>
          <a:p>
            <a:r>
              <a:rPr lang="tr-TR" dirty="0"/>
              <a:t>Geceyle gündüz, güneş ve ay Allah’ın birliğini ve kudretini gösteren delillerdendir. Siz güneşe de aya da secde etmeyin; her şeyi olduğu gibi bunları da yaratan Allah’a secde edin, eğer sadece O’na kulluk yapacaksanız.</a:t>
            </a:r>
            <a:br>
              <a:rPr lang="tr-TR" dirty="0"/>
            </a:br>
            <a:r>
              <a:rPr lang="tr-TR" dirty="0"/>
              <a:t>(</a:t>
            </a:r>
            <a:r>
              <a:rPr lang="tr-TR" dirty="0" err="1"/>
              <a:t>Fussilet</a:t>
            </a:r>
            <a:r>
              <a:rPr lang="tr-TR" dirty="0"/>
              <a:t>, 37)</a:t>
            </a:r>
          </a:p>
          <a:p>
            <a:endParaRPr lang="tr-TR" dirty="0"/>
          </a:p>
          <a:p>
            <a:endParaRPr lang="tr-TR" dirty="0"/>
          </a:p>
        </p:txBody>
      </p:sp>
    </p:spTree>
    <p:extLst>
      <p:ext uri="{BB962C8B-B14F-4D97-AF65-F5344CB8AC3E}">
        <p14:creationId xmlns:p14="http://schemas.microsoft.com/office/powerpoint/2010/main" val="2161623448"/>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D2FF96E-A8AA-4CDA-9EEF-0C92AD8FD1F3}"/>
              </a:ext>
            </a:extLst>
          </p:cNvPr>
          <p:cNvSpPr>
            <a:spLocks noGrp="1"/>
          </p:cNvSpPr>
          <p:nvPr>
            <p:ph type="title"/>
          </p:nvPr>
        </p:nvSpPr>
        <p:spPr/>
        <p:txBody>
          <a:bodyPr/>
          <a:lstStyle/>
          <a:p>
            <a:r>
              <a:rPr lang="tr-TR" dirty="0"/>
              <a:t>Deliller ve Tanımlamaları</a:t>
            </a:r>
          </a:p>
        </p:txBody>
      </p:sp>
      <p:sp>
        <p:nvSpPr>
          <p:cNvPr id="3" name="İçerik Yer Tutucusu 2">
            <a:extLst>
              <a:ext uri="{FF2B5EF4-FFF2-40B4-BE49-F238E27FC236}">
                <a16:creationId xmlns:a16="http://schemas.microsoft.com/office/drawing/2014/main" id="{01026901-2C72-4F03-A83F-2A2FBB590972}"/>
              </a:ext>
            </a:extLst>
          </p:cNvPr>
          <p:cNvSpPr>
            <a:spLocks noGrp="1"/>
          </p:cNvSpPr>
          <p:nvPr>
            <p:ph idx="1"/>
          </p:nvPr>
        </p:nvSpPr>
        <p:spPr/>
        <p:txBody>
          <a:bodyPr>
            <a:normAutofit fontScale="92500" lnSpcReduction="20000"/>
          </a:bodyPr>
          <a:lstStyle/>
          <a:p>
            <a:r>
              <a:rPr lang="tr-TR" sz="3600" b="1" dirty="0"/>
              <a:t>Sırf akıldan çıkarılan deliller</a:t>
            </a:r>
            <a:r>
              <a:rPr lang="tr-TR" sz="3600" dirty="0"/>
              <a:t>:</a:t>
            </a:r>
            <a:br>
              <a:rPr lang="tr-TR" sz="3600" dirty="0"/>
            </a:br>
            <a:r>
              <a:rPr lang="tr-TR" sz="3600" dirty="0"/>
              <a:t>Ontolojik Delil</a:t>
            </a:r>
          </a:p>
          <a:p>
            <a:endParaRPr lang="tr-TR" sz="3600" dirty="0"/>
          </a:p>
          <a:p>
            <a:r>
              <a:rPr lang="tr-TR" sz="3600" b="1" dirty="0"/>
              <a:t>Dış âlemden çıkarılan deliller</a:t>
            </a:r>
            <a:r>
              <a:rPr lang="tr-TR" sz="3600" dirty="0"/>
              <a:t>:</a:t>
            </a:r>
            <a:br>
              <a:rPr lang="tr-TR" sz="3600" dirty="0"/>
            </a:br>
            <a:r>
              <a:rPr lang="tr-TR" sz="3600" dirty="0"/>
              <a:t>Kozmolojik &amp; Teolojik Delil</a:t>
            </a:r>
          </a:p>
          <a:p>
            <a:endParaRPr lang="tr-TR" sz="3600" dirty="0"/>
          </a:p>
          <a:p>
            <a:r>
              <a:rPr lang="tr-TR" sz="3600" b="1" dirty="0"/>
              <a:t>İnsanın manevi ve ruhi âleminden çıkarılan deliller</a:t>
            </a:r>
            <a:r>
              <a:rPr lang="tr-TR" sz="3600" dirty="0"/>
              <a:t>:</a:t>
            </a:r>
            <a:br>
              <a:rPr lang="tr-TR" sz="3600" dirty="0"/>
            </a:br>
            <a:r>
              <a:rPr lang="tr-TR" sz="3600" dirty="0"/>
              <a:t>Dini Tecrübe &amp; Ahlak Delili</a:t>
            </a:r>
          </a:p>
        </p:txBody>
      </p:sp>
    </p:spTree>
    <p:extLst>
      <p:ext uri="{BB962C8B-B14F-4D97-AF65-F5344CB8AC3E}">
        <p14:creationId xmlns:p14="http://schemas.microsoft.com/office/powerpoint/2010/main" val="1040285032"/>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3C41554-93C0-4514-9C62-1D920CE16BC6}"/>
              </a:ext>
            </a:extLst>
          </p:cNvPr>
          <p:cNvSpPr>
            <a:spLocks noGrp="1"/>
          </p:cNvSpPr>
          <p:nvPr>
            <p:ph type="title"/>
          </p:nvPr>
        </p:nvSpPr>
        <p:spPr/>
        <p:txBody>
          <a:bodyPr/>
          <a:lstStyle/>
          <a:p>
            <a:r>
              <a:rPr lang="tr-TR" b="1" dirty="0"/>
              <a:t>Ontolojik Delil</a:t>
            </a:r>
          </a:p>
        </p:txBody>
      </p:sp>
      <p:sp>
        <p:nvSpPr>
          <p:cNvPr id="3" name="İçerik Yer Tutucusu 2">
            <a:extLst>
              <a:ext uri="{FF2B5EF4-FFF2-40B4-BE49-F238E27FC236}">
                <a16:creationId xmlns:a16="http://schemas.microsoft.com/office/drawing/2014/main" id="{8B9543C2-B11B-4C7A-9B6B-4CC9EB9E23A6}"/>
              </a:ext>
            </a:extLst>
          </p:cNvPr>
          <p:cNvSpPr>
            <a:spLocks noGrp="1"/>
          </p:cNvSpPr>
          <p:nvPr>
            <p:ph idx="1"/>
          </p:nvPr>
        </p:nvSpPr>
        <p:spPr/>
        <p:txBody>
          <a:bodyPr>
            <a:normAutofit/>
          </a:bodyPr>
          <a:lstStyle/>
          <a:p>
            <a:r>
              <a:rPr lang="tr-TR" sz="2800" dirty="0"/>
              <a:t>İnsanda bulunan </a:t>
            </a:r>
            <a:r>
              <a:rPr lang="tr-TR" sz="2800" b="1" dirty="0"/>
              <a:t>Mükemmel Varlık / </a:t>
            </a:r>
            <a:r>
              <a:rPr lang="tr-TR" sz="2800" b="1" dirty="0" err="1"/>
              <a:t>Ekmel</a:t>
            </a:r>
            <a:r>
              <a:rPr lang="tr-TR" sz="2800" b="1" dirty="0"/>
              <a:t> Varlık </a:t>
            </a:r>
            <a:r>
              <a:rPr lang="tr-TR" sz="2800" dirty="0"/>
              <a:t>fikrinden hareketle Allah’ın (</a:t>
            </a:r>
            <a:r>
              <a:rPr lang="tr-TR" sz="2800" dirty="0" err="1"/>
              <a:t>c.c</a:t>
            </a:r>
            <a:r>
              <a:rPr lang="tr-TR" sz="2800" dirty="0"/>
              <a:t>.) varlığını ispat etmeyi amaç edinen felsefi bir delildir.</a:t>
            </a:r>
          </a:p>
          <a:p>
            <a:r>
              <a:rPr lang="tr-TR" sz="2800" dirty="0"/>
              <a:t>Bu delil, dış gerçekliğe yani âleme dayalı verinin dışında zihni bir ispat delili olup en yetkin </a:t>
            </a:r>
            <a:r>
              <a:rPr lang="tr-TR" sz="2800" b="1" dirty="0"/>
              <a:t>varlık tasavvuru</a:t>
            </a:r>
            <a:r>
              <a:rPr lang="tr-TR" sz="2800" dirty="0"/>
              <a:t> üzerinde kurulmaktadır.</a:t>
            </a:r>
          </a:p>
          <a:p>
            <a:r>
              <a:rPr lang="tr-TR" sz="2800" dirty="0" err="1"/>
              <a:t>Ekmel</a:t>
            </a:r>
            <a:r>
              <a:rPr lang="tr-TR" sz="2800" dirty="0"/>
              <a:t> Varlık delilini İslam düşüncesinde ilk kullanan kişi </a:t>
            </a:r>
            <a:r>
              <a:rPr lang="tr-TR" sz="2800" b="1" dirty="0"/>
              <a:t>Farabi’dir.</a:t>
            </a:r>
            <a:r>
              <a:rPr lang="tr-TR" sz="2800" dirty="0"/>
              <a:t> </a:t>
            </a:r>
            <a:br>
              <a:rPr lang="tr-TR" sz="2800" dirty="0"/>
            </a:br>
            <a:r>
              <a:rPr lang="tr-TR" sz="2800" dirty="0"/>
              <a:t>(</a:t>
            </a:r>
            <a:r>
              <a:rPr lang="tr-TR" sz="2800" dirty="0" err="1"/>
              <a:t>Bkz</a:t>
            </a:r>
            <a:r>
              <a:rPr lang="tr-TR" sz="2800" dirty="0"/>
              <a:t>: Farabi, el-</a:t>
            </a:r>
            <a:r>
              <a:rPr lang="tr-TR" sz="2800" dirty="0" err="1"/>
              <a:t>Medinetü'l</a:t>
            </a:r>
            <a:r>
              <a:rPr lang="tr-TR" sz="2800" dirty="0"/>
              <a:t>-</a:t>
            </a:r>
            <a:r>
              <a:rPr lang="tr-TR" sz="2800" dirty="0" err="1"/>
              <a:t>Fâdıla</a:t>
            </a:r>
            <a:r>
              <a:rPr lang="tr-TR" sz="2800" dirty="0"/>
              <a:t>, s. 13-14)</a:t>
            </a:r>
          </a:p>
        </p:txBody>
      </p:sp>
    </p:spTree>
    <p:extLst>
      <p:ext uri="{BB962C8B-B14F-4D97-AF65-F5344CB8AC3E}">
        <p14:creationId xmlns:p14="http://schemas.microsoft.com/office/powerpoint/2010/main" val="6057604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F4AF2D9-AB56-4C87-8AA7-DF858218100F}"/>
              </a:ext>
            </a:extLst>
          </p:cNvPr>
          <p:cNvSpPr>
            <a:spLocks noGrp="1"/>
          </p:cNvSpPr>
          <p:nvPr>
            <p:ph type="title"/>
          </p:nvPr>
        </p:nvSpPr>
        <p:spPr/>
        <p:txBody>
          <a:bodyPr/>
          <a:lstStyle/>
          <a:p>
            <a:r>
              <a:rPr lang="tr-TR" b="1" dirty="0"/>
              <a:t>Kozmolojik &amp; Teolojik Delil</a:t>
            </a:r>
          </a:p>
        </p:txBody>
      </p:sp>
      <p:sp>
        <p:nvSpPr>
          <p:cNvPr id="3" name="İçerik Yer Tutucusu 2">
            <a:extLst>
              <a:ext uri="{FF2B5EF4-FFF2-40B4-BE49-F238E27FC236}">
                <a16:creationId xmlns:a16="http://schemas.microsoft.com/office/drawing/2014/main" id="{C79C7D3E-50E9-48B7-A946-EBAFBD3E324C}"/>
              </a:ext>
            </a:extLst>
          </p:cNvPr>
          <p:cNvSpPr>
            <a:spLocks noGrp="1"/>
          </p:cNvSpPr>
          <p:nvPr>
            <p:ph idx="1"/>
          </p:nvPr>
        </p:nvSpPr>
        <p:spPr/>
        <p:txBody>
          <a:bodyPr>
            <a:noAutofit/>
          </a:bodyPr>
          <a:lstStyle/>
          <a:p>
            <a:r>
              <a:rPr lang="tr-TR" sz="2400" dirty="0"/>
              <a:t>Evrendeki değişim ve hareket yasaları baz alınarak Allah’ın varlığını ispat eden kanıtlara, kozmolojik delil denir. Kozmolojik delilde </a:t>
            </a:r>
            <a:r>
              <a:rPr lang="tr-TR" sz="2400" b="1" dirty="0"/>
              <a:t>tümevarım yöntemi </a:t>
            </a:r>
            <a:r>
              <a:rPr lang="tr-TR" sz="2400" dirty="0"/>
              <a:t>kullanılır.</a:t>
            </a:r>
          </a:p>
          <a:p>
            <a:r>
              <a:rPr lang="tr-TR" sz="2400" dirty="0"/>
              <a:t>Tümevarım yönteminin ilk aşama </a:t>
            </a:r>
            <a:r>
              <a:rPr lang="tr-TR" sz="2400" b="1" dirty="0"/>
              <a:t>«var olan ya da var olmaya başlayan her şeyin bir nedeni vardır» </a:t>
            </a:r>
            <a:r>
              <a:rPr lang="tr-TR" sz="2400" dirty="0"/>
              <a:t>saptaması ile başlar.</a:t>
            </a:r>
          </a:p>
          <a:p>
            <a:endParaRPr lang="tr-TR" sz="2400" dirty="0"/>
          </a:p>
          <a:p>
            <a:r>
              <a:rPr lang="tr-TR" sz="2400" dirty="0"/>
              <a:t>Teleolojik delil ise evrende var olan düzen, güzellik ve onun bir amaca hizmet ediyor oluşu fikrine dayanır ve bizim </a:t>
            </a:r>
            <a:r>
              <a:rPr lang="tr-TR" sz="2400" b="1" dirty="0"/>
              <a:t>yakın çevremizi </a:t>
            </a:r>
            <a:r>
              <a:rPr lang="tr-TR" sz="2400" dirty="0"/>
              <a:t>ele alır.</a:t>
            </a:r>
          </a:p>
        </p:txBody>
      </p:sp>
    </p:spTree>
    <p:extLst>
      <p:ext uri="{BB962C8B-B14F-4D97-AF65-F5344CB8AC3E}">
        <p14:creationId xmlns:p14="http://schemas.microsoft.com/office/powerpoint/2010/main" val="963332489"/>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6AB109-2B99-4B21-82B5-47FEE086D3B8}"/>
              </a:ext>
            </a:extLst>
          </p:cNvPr>
          <p:cNvSpPr>
            <a:spLocks noGrp="1"/>
          </p:cNvSpPr>
          <p:nvPr>
            <p:ph type="title"/>
          </p:nvPr>
        </p:nvSpPr>
        <p:spPr/>
        <p:txBody>
          <a:bodyPr/>
          <a:lstStyle/>
          <a:p>
            <a:r>
              <a:rPr lang="tr-TR" b="1" dirty="0"/>
              <a:t>Dini Tecrübe &amp; Ahlak Delili</a:t>
            </a:r>
          </a:p>
        </p:txBody>
      </p:sp>
      <p:sp>
        <p:nvSpPr>
          <p:cNvPr id="3" name="İçerik Yer Tutucusu 2">
            <a:extLst>
              <a:ext uri="{FF2B5EF4-FFF2-40B4-BE49-F238E27FC236}">
                <a16:creationId xmlns:a16="http://schemas.microsoft.com/office/drawing/2014/main" id="{83DE663A-3AEE-43D4-80FC-6E2AFEF8A475}"/>
              </a:ext>
            </a:extLst>
          </p:cNvPr>
          <p:cNvSpPr>
            <a:spLocks noGrp="1"/>
          </p:cNvSpPr>
          <p:nvPr>
            <p:ph idx="1"/>
          </p:nvPr>
        </p:nvSpPr>
        <p:spPr/>
        <p:txBody>
          <a:bodyPr/>
          <a:lstStyle/>
          <a:p>
            <a:r>
              <a:rPr lang="tr-TR" sz="2400" dirty="0"/>
              <a:t>Bu bağlamda </a:t>
            </a:r>
            <a:r>
              <a:rPr lang="tr-TR" sz="2400" b="1" dirty="0"/>
              <a:t>dini tecrübe delili</a:t>
            </a:r>
            <a:r>
              <a:rPr lang="tr-TR" sz="2400" dirty="0"/>
              <a:t>, özellikle insan içi, iç âlemi tabirlerini kullanarak </a:t>
            </a:r>
            <a:r>
              <a:rPr lang="tr-TR" sz="2400" b="1" dirty="0"/>
              <a:t>insandan hareketle </a:t>
            </a:r>
            <a:r>
              <a:rPr lang="tr-TR" sz="2400" dirty="0"/>
              <a:t>kanıtlarını ortaya koymuşlardır. Yani dini tecrübe delili, belli bir inançtan yola çıkarak, inanç seviyelerini(merhalelerini) aşarak Tanrı'ya giden veya götüren bir delildir.</a:t>
            </a:r>
          </a:p>
          <a:p>
            <a:endParaRPr lang="tr-TR" sz="2400" dirty="0"/>
          </a:p>
          <a:p>
            <a:r>
              <a:rPr lang="tr-TR" sz="2400" dirty="0"/>
              <a:t>Ahlak Delili ise; </a:t>
            </a:r>
            <a:r>
              <a:rPr lang="tr-TR" sz="2400" b="1" dirty="0"/>
              <a:t>Ahlaki kanıt</a:t>
            </a:r>
            <a:r>
              <a:rPr lang="tr-TR" sz="2400" dirty="0"/>
              <a:t>, kişinin ahlaki deneyiminden ve bu deneyim ile ilgili her çeşit veriden yola çıkarak Tanrı'nın varlığını ispat etmektir.</a:t>
            </a:r>
          </a:p>
          <a:p>
            <a:endParaRPr lang="tr-TR" dirty="0"/>
          </a:p>
        </p:txBody>
      </p:sp>
    </p:spTree>
    <p:extLst>
      <p:ext uri="{BB962C8B-B14F-4D97-AF65-F5344CB8AC3E}">
        <p14:creationId xmlns:p14="http://schemas.microsoft.com/office/powerpoint/2010/main" val="72082793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CA46210F-14EE-45EC-A34D-70DE44C76E9A}"/>
              </a:ext>
            </a:extLst>
          </p:cNvPr>
          <p:cNvSpPr>
            <a:spLocks noGrp="1"/>
          </p:cNvSpPr>
          <p:nvPr>
            <p:ph type="title"/>
          </p:nvPr>
        </p:nvSpPr>
        <p:spPr/>
        <p:txBody>
          <a:bodyPr/>
          <a:lstStyle/>
          <a:p>
            <a:r>
              <a:rPr lang="tr-TR" dirty="0"/>
              <a:t>Dinlediğiniz için teşekkürler</a:t>
            </a:r>
          </a:p>
        </p:txBody>
      </p:sp>
      <p:sp>
        <p:nvSpPr>
          <p:cNvPr id="5" name="Metin Yer Tutucusu 4">
            <a:extLst>
              <a:ext uri="{FF2B5EF4-FFF2-40B4-BE49-F238E27FC236}">
                <a16:creationId xmlns:a16="http://schemas.microsoft.com/office/drawing/2014/main" id="{708E5514-EB75-4B54-B724-52F9FF5304B6}"/>
              </a:ext>
            </a:extLst>
          </p:cNvPr>
          <p:cNvSpPr>
            <a:spLocks noGrp="1"/>
          </p:cNvSpPr>
          <p:nvPr>
            <p:ph type="body" idx="1"/>
          </p:nvPr>
        </p:nvSpPr>
        <p:spPr/>
        <p:txBody>
          <a:bodyPr/>
          <a:lstStyle/>
          <a:p>
            <a:r>
              <a:rPr lang="tr-TR" dirty="0"/>
              <a:t>HAZIRLAYAN: İBRAHİM ÖZTEPE</a:t>
            </a:r>
          </a:p>
        </p:txBody>
      </p:sp>
    </p:spTree>
    <p:extLst>
      <p:ext uri="{BB962C8B-B14F-4D97-AF65-F5344CB8AC3E}">
        <p14:creationId xmlns:p14="http://schemas.microsoft.com/office/powerpoint/2010/main" val="169478810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DE47D1D-CB1B-448B-AF70-8D25B3973685}"/>
              </a:ext>
            </a:extLst>
          </p:cNvPr>
          <p:cNvSpPr>
            <a:spLocks noGrp="1"/>
          </p:cNvSpPr>
          <p:nvPr>
            <p:ph type="title"/>
          </p:nvPr>
        </p:nvSpPr>
        <p:spPr/>
        <p:txBody>
          <a:bodyPr/>
          <a:lstStyle/>
          <a:p>
            <a:r>
              <a:rPr lang="tr-TR" b="1" dirty="0"/>
              <a:t>Kaynakça</a:t>
            </a:r>
          </a:p>
        </p:txBody>
      </p:sp>
      <p:sp>
        <p:nvSpPr>
          <p:cNvPr id="3" name="İçerik Yer Tutucusu 2">
            <a:extLst>
              <a:ext uri="{FF2B5EF4-FFF2-40B4-BE49-F238E27FC236}">
                <a16:creationId xmlns:a16="http://schemas.microsoft.com/office/drawing/2014/main" id="{45192880-AD14-40F4-81F0-06B60DB3151A}"/>
              </a:ext>
            </a:extLst>
          </p:cNvPr>
          <p:cNvSpPr>
            <a:spLocks noGrp="1"/>
          </p:cNvSpPr>
          <p:nvPr>
            <p:ph idx="1"/>
          </p:nvPr>
        </p:nvSpPr>
        <p:spPr>
          <a:xfrm>
            <a:off x="1066800" y="1724748"/>
            <a:ext cx="10058400" cy="4490658"/>
          </a:xfrm>
        </p:spPr>
        <p:txBody>
          <a:bodyPr>
            <a:normAutofit/>
          </a:bodyPr>
          <a:lstStyle/>
          <a:p>
            <a:pPr marL="0" indent="0">
              <a:buNone/>
            </a:pPr>
            <a:r>
              <a:rPr lang="tr-TR" sz="1600" dirty="0"/>
              <a:t>https://avesis.atauni.edu.tr/resume/downloadfile/celal.buyuk?key=6a59b0fc-6703-46da-9730-92d9716d28ae</a:t>
            </a:r>
          </a:p>
          <a:p>
            <a:pPr marL="0" indent="0">
              <a:buNone/>
            </a:pPr>
            <a:r>
              <a:rPr lang="tr-TR" sz="1600" dirty="0"/>
              <a:t>https://islamansiklopedisi.org.tr/dehriyye</a:t>
            </a:r>
          </a:p>
          <a:p>
            <a:pPr marL="0" indent="0">
              <a:buNone/>
            </a:pPr>
            <a:r>
              <a:rPr lang="tr-TR" sz="1600" dirty="0"/>
              <a:t>https://islamansiklopedisi.org.tr/materyalizm</a:t>
            </a:r>
          </a:p>
          <a:p>
            <a:pPr marL="0" indent="0">
              <a:buNone/>
            </a:pPr>
            <a:r>
              <a:rPr lang="tr-TR" sz="1600" dirty="0"/>
              <a:t>https://islamansiklopedisi.org.tr/pozitivizm</a:t>
            </a:r>
          </a:p>
          <a:p>
            <a:pPr marL="0" indent="0">
              <a:buNone/>
            </a:pPr>
            <a:r>
              <a:rPr lang="tr-TR" sz="1600" dirty="0"/>
              <a:t>https://www.kuranvemeali.com/allahin-varliginin-delilleri-ile-ilgili-ayetler</a:t>
            </a:r>
          </a:p>
          <a:p>
            <a:pPr marL="0" indent="0">
              <a:buNone/>
            </a:pPr>
            <a:r>
              <a:rPr lang="tr-TR" sz="1600" dirty="0"/>
              <a:t>https://www.milliyet.com.tr/egitim/kozmolojik-delil-nedir-din-kulturunde-kozmolojik-delil-nasil-anlatilir-6521243</a:t>
            </a:r>
          </a:p>
          <a:p>
            <a:pPr marL="0" indent="0">
              <a:buNone/>
            </a:pPr>
            <a:r>
              <a:rPr lang="tr-TR" sz="1600" dirty="0"/>
              <a:t>https://cevapo.biz.tr/kozmolojik-ve-teolojik-delil-nedir/</a:t>
            </a:r>
          </a:p>
          <a:p>
            <a:pPr marL="0" indent="0">
              <a:buNone/>
            </a:pPr>
            <a:r>
              <a:rPr lang="tr-TR" sz="1600" dirty="0"/>
              <a:t>Çavuşoğlu, H. (2019). "</a:t>
            </a:r>
            <a:r>
              <a:rPr lang="tr-TR" sz="1600" i="1" dirty="0"/>
              <a:t>DİNİ TECRÜBE DELİLİNİN DOĞASI"</a:t>
            </a:r>
            <a:r>
              <a:rPr lang="tr-TR" sz="1600" dirty="0"/>
              <a:t>, Uludağ Üniversitesi, Doktora</a:t>
            </a:r>
          </a:p>
          <a:p>
            <a:pPr marL="0" indent="0">
              <a:buNone/>
            </a:pPr>
            <a:r>
              <a:rPr lang="tr-TR" sz="1600" dirty="0"/>
              <a:t>Farabi, el-</a:t>
            </a:r>
            <a:r>
              <a:rPr lang="tr-TR" sz="1600" dirty="0" err="1"/>
              <a:t>Medinetü'l</a:t>
            </a:r>
            <a:r>
              <a:rPr lang="tr-TR" sz="1600" dirty="0"/>
              <a:t>-</a:t>
            </a:r>
            <a:r>
              <a:rPr lang="tr-TR" sz="1600" dirty="0" err="1"/>
              <a:t>Fâdıla</a:t>
            </a:r>
            <a:r>
              <a:rPr lang="tr-TR" sz="1600" dirty="0"/>
              <a:t>, s. 13-14</a:t>
            </a:r>
          </a:p>
          <a:p>
            <a:pPr marL="0" indent="0">
              <a:buNone/>
            </a:pPr>
            <a:r>
              <a:rPr lang="tr-TR" sz="1600" b="1" dirty="0"/>
              <a:t>SORUMLULUK REDDİ BEYANI</a:t>
            </a:r>
          </a:p>
          <a:p>
            <a:pPr marL="0" indent="0">
              <a:buNone/>
            </a:pPr>
            <a:r>
              <a:rPr lang="tr-TR" sz="1600" dirty="0"/>
              <a:t>Bahsi geçen bağlantıların/metinlerin içeriğinde bulunan sitelere/verilere </a:t>
            </a:r>
            <a:r>
              <a:rPr lang="tr-TR" sz="1600" b="1" dirty="0"/>
              <a:t>14.05.2022 tarihinde </a:t>
            </a:r>
            <a:r>
              <a:rPr lang="tr-TR" sz="1600" dirty="0"/>
              <a:t>erişilmiştir.</a:t>
            </a:r>
          </a:p>
          <a:p>
            <a:pPr marL="0" indent="0">
              <a:buNone/>
            </a:pPr>
            <a:r>
              <a:rPr lang="tr-TR" sz="1600" dirty="0"/>
              <a:t>Sonrasında bu sitelerde/metinlerde yapılacak olan değişikliklerden herhangi bir şahıs/kurum/kuruluş </a:t>
            </a:r>
            <a:r>
              <a:rPr lang="tr-TR" sz="1600" b="1" dirty="0"/>
              <a:t>sorumlu tutulamaz.</a:t>
            </a:r>
          </a:p>
        </p:txBody>
      </p:sp>
    </p:spTree>
    <p:extLst>
      <p:ext uri="{BB962C8B-B14F-4D97-AF65-F5344CB8AC3E}">
        <p14:creationId xmlns:p14="http://schemas.microsoft.com/office/powerpoint/2010/main" val="610504422"/>
      </p:ext>
    </p:extLst>
  </p:cSld>
  <p:clrMapOvr>
    <a:masterClrMapping/>
  </p:clrMapOvr>
  <p:transition spd="slow">
    <p:push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bun">
  <a:themeElements>
    <a:clrScheme name="Savon">
      <a:dk1>
        <a:sysClr val="windowText" lastClr="000000"/>
      </a:dk1>
      <a:lt1>
        <a:sysClr val="window" lastClr="FFFFFF"/>
      </a:lt1>
      <a:dk2>
        <a:srgbClr val="736059"/>
      </a:dk2>
      <a:lt2>
        <a:srgbClr val="E7E0C7"/>
      </a:lt2>
      <a:accent1>
        <a:srgbClr val="92B0C8"/>
      </a:accent1>
      <a:accent2>
        <a:srgbClr val="E37C3D"/>
      </a:accent2>
      <a:accent3>
        <a:srgbClr val="A5AB81"/>
      </a:accent3>
      <a:accent4>
        <a:srgbClr val="E9B635"/>
      </a:accent4>
      <a:accent5>
        <a:srgbClr val="7BA79D"/>
      </a:accent5>
      <a:accent6>
        <a:srgbClr val="968C8C"/>
      </a:accent6>
      <a:hlink>
        <a:srgbClr val="F7A115"/>
      </a:hlink>
      <a:folHlink>
        <a:srgbClr val="969696"/>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3F20CFC1-E34F-405B-AA49-5BE0E194F1B3}"/>
    </a:ext>
  </a:extLst>
</a:theme>
</file>

<file path=docProps/app.xml><?xml version="1.0" encoding="utf-8"?>
<Properties xmlns="http://schemas.openxmlformats.org/officeDocument/2006/extended-properties" xmlns:vt="http://schemas.openxmlformats.org/officeDocument/2006/docPropsVTypes">
  <Template>TM03457510[[fn=Sabun]]</Template>
  <TotalTime>147</TotalTime>
  <Words>865</Words>
  <Application>Microsoft Office PowerPoint</Application>
  <PresentationFormat>Geniş ekran</PresentationFormat>
  <Paragraphs>68</Paragraphs>
  <Slides>13</Slides>
  <Notes>0</Notes>
  <HiddenSlides>0</HiddenSlides>
  <MMClips>0</MMClips>
  <ScaleCrop>false</ScaleCrop>
  <HeadingPairs>
    <vt:vector size="6" baseType="variant">
      <vt:variant>
        <vt:lpstr>Kullanılan Yazı Tipleri</vt:lpstr>
      </vt:variant>
      <vt:variant>
        <vt:i4>1</vt:i4>
      </vt:variant>
      <vt:variant>
        <vt:lpstr>Tema</vt:lpstr>
      </vt:variant>
      <vt:variant>
        <vt:i4>1</vt:i4>
      </vt:variant>
      <vt:variant>
        <vt:lpstr>Slayt Başlıkları</vt:lpstr>
      </vt:variant>
      <vt:variant>
        <vt:i4>13</vt:i4>
      </vt:variant>
    </vt:vector>
  </HeadingPairs>
  <TitlesOfParts>
    <vt:vector size="15" baseType="lpstr">
      <vt:lpstr>Garamond</vt:lpstr>
      <vt:lpstr>Sabun</vt:lpstr>
      <vt:lpstr>ALLAH’IN VARLIĞI VE VARLIĞINA DELALET EDEN DELILLERI</vt:lpstr>
      <vt:lpstr>İlerleyiş Şeması</vt:lpstr>
      <vt:lpstr>Allah’ın Delillerine Neden İhtiyaç Duyarız?</vt:lpstr>
      <vt:lpstr>1) İnsan Fıtratı</vt:lpstr>
      <vt:lpstr>2) İslam Coğrafyasının Genişlemesi</vt:lpstr>
      <vt:lpstr>3) Ateist Fikir Akımlarının Ortaya Çıkması</vt:lpstr>
      <vt:lpstr>Allah’ın Delillerine Yönelik Ayetler</vt:lpstr>
      <vt:lpstr>Deliller ve Tanımlamaları</vt:lpstr>
      <vt:lpstr>Ontolojik Delil</vt:lpstr>
      <vt:lpstr>Kozmolojik &amp; Teolojik Delil</vt:lpstr>
      <vt:lpstr>Dini Tecrübe &amp; Ahlak Delili</vt:lpstr>
      <vt:lpstr>Dinlediğiniz için teşekkürler</vt:lpstr>
      <vt:lpstr>Kaynakça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ALLAH’IN VARLIĞI VE VARLIĞINA DELALET EDEN DELILLERI</dc:title>
  <dc:creator>İbrahim ÖZTEPE</dc:creator>
  <cp:lastModifiedBy>İbrahim ÖZTEPE</cp:lastModifiedBy>
  <cp:revision>16</cp:revision>
  <dcterms:created xsi:type="dcterms:W3CDTF">2022-05-16T02:29:52Z</dcterms:created>
  <dcterms:modified xsi:type="dcterms:W3CDTF">2022-05-16T04:58:54Z</dcterms:modified>
</cp:coreProperties>
</file>